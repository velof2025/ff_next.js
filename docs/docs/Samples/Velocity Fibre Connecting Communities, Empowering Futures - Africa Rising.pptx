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7" r:id="rId11"/>
  </p:sldIdLst>
  <p:sldSz cx="18288000" cy="10287000"/>
  <p:notesSz cx="6858000" cy="9144000"/>
  <p:embeddedFontLst>
    <p:embeddedFont>
      <p:font typeface="Touvlo" panose="020B0604020202020204" charset="0"/>
      <p:regular r:id="rId12"/>
    </p:embeddedFont>
    <p:embeddedFont>
      <p:font typeface="Touvlo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9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8300056" cy="10287000"/>
            <a:chOff x="0" y="0"/>
            <a:chExt cx="218602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86023" cy="2709333"/>
            </a:xfrm>
            <a:custGeom>
              <a:avLst/>
              <a:gdLst/>
              <a:ahLst/>
              <a:cxnLst/>
              <a:rect l="l" t="t" r="r" b="b"/>
              <a:pathLst>
                <a:path w="2186023" h="2709333">
                  <a:moveTo>
                    <a:pt x="0" y="0"/>
                  </a:moveTo>
                  <a:lnTo>
                    <a:pt x="2186023" y="0"/>
                  </a:lnTo>
                  <a:lnTo>
                    <a:pt x="218602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18602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94486" y="484069"/>
            <a:ext cx="7311084" cy="9318862"/>
            <a:chOff x="0" y="0"/>
            <a:chExt cx="2682240" cy="3418840"/>
          </a:xfrm>
        </p:grpSpPr>
        <p:sp>
          <p:nvSpPr>
            <p:cNvPr id="6" name="Freeform 6"/>
            <p:cNvSpPr/>
            <p:nvPr/>
          </p:nvSpPr>
          <p:spPr>
            <a:xfrm>
              <a:off x="-21590" y="-40640"/>
              <a:ext cx="2766060" cy="3455670"/>
            </a:xfrm>
            <a:custGeom>
              <a:avLst/>
              <a:gdLst/>
              <a:ahLst/>
              <a:cxnLst/>
              <a:rect l="l" t="t" r="r" b="b"/>
              <a:pathLst>
                <a:path w="2766060" h="3455670">
                  <a:moveTo>
                    <a:pt x="91440" y="2453640"/>
                  </a:moveTo>
                  <a:lnTo>
                    <a:pt x="90170" y="2452370"/>
                  </a:lnTo>
                  <a:cubicBezTo>
                    <a:pt x="53340" y="2378710"/>
                    <a:pt x="63500" y="2291080"/>
                    <a:pt x="63500" y="2212340"/>
                  </a:cubicBezTo>
                  <a:cubicBezTo>
                    <a:pt x="63500" y="2179320"/>
                    <a:pt x="63500" y="2137410"/>
                    <a:pt x="64770" y="2105660"/>
                  </a:cubicBezTo>
                  <a:cubicBezTo>
                    <a:pt x="68580" y="2000250"/>
                    <a:pt x="41910" y="1897380"/>
                    <a:pt x="123190" y="1814830"/>
                  </a:cubicBezTo>
                  <a:cubicBezTo>
                    <a:pt x="170180" y="1765300"/>
                    <a:pt x="236220" y="1738630"/>
                    <a:pt x="309880" y="1739900"/>
                  </a:cubicBezTo>
                  <a:cubicBezTo>
                    <a:pt x="309880" y="1739900"/>
                    <a:pt x="566420" y="1741170"/>
                    <a:pt x="566420" y="1741170"/>
                  </a:cubicBezTo>
                  <a:cubicBezTo>
                    <a:pt x="716280" y="1748790"/>
                    <a:pt x="857250" y="1724660"/>
                    <a:pt x="905510" y="1583690"/>
                  </a:cubicBezTo>
                  <a:cubicBezTo>
                    <a:pt x="918210" y="1541780"/>
                    <a:pt x="914400" y="1456690"/>
                    <a:pt x="915670" y="1412240"/>
                  </a:cubicBezTo>
                  <a:cubicBezTo>
                    <a:pt x="914400" y="1393190"/>
                    <a:pt x="920750" y="1193800"/>
                    <a:pt x="916940" y="1181100"/>
                  </a:cubicBezTo>
                  <a:cubicBezTo>
                    <a:pt x="904240" y="1041400"/>
                    <a:pt x="1026160" y="923290"/>
                    <a:pt x="1164590" y="929640"/>
                  </a:cubicBezTo>
                  <a:cubicBezTo>
                    <a:pt x="1272540" y="930910"/>
                    <a:pt x="1389380" y="929640"/>
                    <a:pt x="1497330" y="929640"/>
                  </a:cubicBezTo>
                  <a:cubicBezTo>
                    <a:pt x="1626870" y="927100"/>
                    <a:pt x="1752600" y="773430"/>
                    <a:pt x="1750060" y="641350"/>
                  </a:cubicBezTo>
                  <a:cubicBezTo>
                    <a:pt x="1752600" y="542290"/>
                    <a:pt x="1752600" y="346710"/>
                    <a:pt x="1756410" y="245110"/>
                  </a:cubicBezTo>
                  <a:cubicBezTo>
                    <a:pt x="1776730" y="0"/>
                    <a:pt x="2015490" y="43180"/>
                    <a:pt x="2194560" y="39370"/>
                  </a:cubicBezTo>
                  <a:cubicBezTo>
                    <a:pt x="2195830" y="39370"/>
                    <a:pt x="2448560" y="39370"/>
                    <a:pt x="2449830" y="39370"/>
                  </a:cubicBezTo>
                  <a:cubicBezTo>
                    <a:pt x="2766060" y="54610"/>
                    <a:pt x="2675890" y="440690"/>
                    <a:pt x="2689860" y="633730"/>
                  </a:cubicBezTo>
                  <a:cubicBezTo>
                    <a:pt x="2689860" y="770890"/>
                    <a:pt x="2584450" y="894080"/>
                    <a:pt x="2447290" y="887730"/>
                  </a:cubicBezTo>
                  <a:cubicBezTo>
                    <a:pt x="2334260" y="885190"/>
                    <a:pt x="2112010" y="887730"/>
                    <a:pt x="1968500" y="887730"/>
                  </a:cubicBezTo>
                  <a:cubicBezTo>
                    <a:pt x="1910080" y="887730"/>
                    <a:pt x="1842770" y="948690"/>
                    <a:pt x="1783080" y="1055370"/>
                  </a:cubicBezTo>
                  <a:cubicBezTo>
                    <a:pt x="1765300" y="1087120"/>
                    <a:pt x="1755140" y="1123950"/>
                    <a:pt x="1753870" y="1162050"/>
                  </a:cubicBezTo>
                  <a:cubicBezTo>
                    <a:pt x="1750060" y="1242060"/>
                    <a:pt x="1751330" y="1324610"/>
                    <a:pt x="1752600" y="1404620"/>
                  </a:cubicBezTo>
                  <a:lnTo>
                    <a:pt x="1753870" y="1510030"/>
                  </a:lnTo>
                  <a:cubicBezTo>
                    <a:pt x="1755140" y="1663700"/>
                    <a:pt x="1647190" y="1762760"/>
                    <a:pt x="1508760" y="1764030"/>
                  </a:cubicBezTo>
                  <a:cubicBezTo>
                    <a:pt x="1508760" y="1764030"/>
                    <a:pt x="1156970" y="1764030"/>
                    <a:pt x="1156970" y="1764030"/>
                  </a:cubicBezTo>
                  <a:cubicBezTo>
                    <a:pt x="1029970" y="1764030"/>
                    <a:pt x="910590" y="1835150"/>
                    <a:pt x="906780" y="1972310"/>
                  </a:cubicBezTo>
                  <a:cubicBezTo>
                    <a:pt x="901700" y="2081530"/>
                    <a:pt x="906780" y="2213610"/>
                    <a:pt x="905510" y="2324100"/>
                  </a:cubicBezTo>
                  <a:cubicBezTo>
                    <a:pt x="904240" y="2481580"/>
                    <a:pt x="801370" y="2573020"/>
                    <a:pt x="626110" y="2574290"/>
                  </a:cubicBezTo>
                  <a:lnTo>
                    <a:pt x="331470" y="2574290"/>
                  </a:lnTo>
                  <a:cubicBezTo>
                    <a:pt x="220980" y="2576830"/>
                    <a:pt x="146050" y="2559050"/>
                    <a:pt x="91440" y="2453640"/>
                  </a:cubicBezTo>
                  <a:close/>
                  <a:moveTo>
                    <a:pt x="267970" y="1692910"/>
                  </a:moveTo>
                  <a:lnTo>
                    <a:pt x="604520" y="1692910"/>
                  </a:lnTo>
                  <a:cubicBezTo>
                    <a:pt x="758190" y="1692910"/>
                    <a:pt x="857250" y="1593850"/>
                    <a:pt x="857250" y="1440180"/>
                  </a:cubicBezTo>
                  <a:lnTo>
                    <a:pt x="857250" y="1342390"/>
                  </a:lnTo>
                  <a:cubicBezTo>
                    <a:pt x="855980" y="1258570"/>
                    <a:pt x="855980" y="1172210"/>
                    <a:pt x="859790" y="1088390"/>
                  </a:cubicBezTo>
                  <a:cubicBezTo>
                    <a:pt x="863600" y="972820"/>
                    <a:pt x="951230" y="876300"/>
                    <a:pt x="1073150" y="880110"/>
                  </a:cubicBezTo>
                  <a:cubicBezTo>
                    <a:pt x="1073150" y="880110"/>
                    <a:pt x="1447800" y="880110"/>
                    <a:pt x="1447800" y="880110"/>
                  </a:cubicBezTo>
                  <a:cubicBezTo>
                    <a:pt x="1447800" y="880110"/>
                    <a:pt x="1459230" y="880110"/>
                    <a:pt x="1459230" y="880110"/>
                  </a:cubicBezTo>
                  <a:cubicBezTo>
                    <a:pt x="1522730" y="878840"/>
                    <a:pt x="1581150" y="852170"/>
                    <a:pt x="1624330" y="807720"/>
                  </a:cubicBezTo>
                  <a:cubicBezTo>
                    <a:pt x="1667510" y="762000"/>
                    <a:pt x="1690370" y="702310"/>
                    <a:pt x="1689100" y="640080"/>
                  </a:cubicBezTo>
                  <a:lnTo>
                    <a:pt x="1689100" y="288290"/>
                  </a:lnTo>
                  <a:cubicBezTo>
                    <a:pt x="1687830" y="143510"/>
                    <a:pt x="1593850" y="48260"/>
                    <a:pt x="1449070" y="45720"/>
                  </a:cubicBezTo>
                  <a:cubicBezTo>
                    <a:pt x="1449070" y="45720"/>
                    <a:pt x="1324610" y="45720"/>
                    <a:pt x="1324610" y="45720"/>
                  </a:cubicBezTo>
                  <a:cubicBezTo>
                    <a:pt x="1234440" y="45720"/>
                    <a:pt x="1131570" y="45720"/>
                    <a:pt x="1059180" y="49530"/>
                  </a:cubicBezTo>
                  <a:cubicBezTo>
                    <a:pt x="955040" y="54610"/>
                    <a:pt x="863600" y="147320"/>
                    <a:pt x="859790" y="250190"/>
                  </a:cubicBezTo>
                  <a:cubicBezTo>
                    <a:pt x="857250" y="313690"/>
                    <a:pt x="857250" y="378460"/>
                    <a:pt x="855980" y="439420"/>
                  </a:cubicBezTo>
                  <a:cubicBezTo>
                    <a:pt x="852170" y="492760"/>
                    <a:pt x="861060" y="648970"/>
                    <a:pt x="845820" y="698500"/>
                  </a:cubicBezTo>
                  <a:cubicBezTo>
                    <a:pt x="801370" y="835660"/>
                    <a:pt x="673100" y="855980"/>
                    <a:pt x="601980" y="855980"/>
                  </a:cubicBezTo>
                  <a:cubicBezTo>
                    <a:pt x="601980" y="855980"/>
                    <a:pt x="266700" y="855980"/>
                    <a:pt x="266700" y="855980"/>
                  </a:cubicBezTo>
                  <a:cubicBezTo>
                    <a:pt x="196850" y="854710"/>
                    <a:pt x="129540" y="883920"/>
                    <a:pt x="81280" y="935990"/>
                  </a:cubicBezTo>
                  <a:cubicBezTo>
                    <a:pt x="0" y="1021080"/>
                    <a:pt x="27940" y="1115060"/>
                    <a:pt x="22860" y="1220470"/>
                  </a:cubicBezTo>
                  <a:cubicBezTo>
                    <a:pt x="21590" y="1304290"/>
                    <a:pt x="20320" y="1388110"/>
                    <a:pt x="22860" y="1471930"/>
                  </a:cubicBezTo>
                  <a:cubicBezTo>
                    <a:pt x="30480" y="1600200"/>
                    <a:pt x="134620" y="1696720"/>
                    <a:pt x="267970" y="1692910"/>
                  </a:cubicBezTo>
                  <a:close/>
                  <a:moveTo>
                    <a:pt x="2090420" y="2612390"/>
                  </a:moveTo>
                  <a:cubicBezTo>
                    <a:pt x="2090420" y="2612390"/>
                    <a:pt x="2579370" y="2612390"/>
                    <a:pt x="2579370" y="2612390"/>
                  </a:cubicBezTo>
                  <a:cubicBezTo>
                    <a:pt x="2640330" y="2612390"/>
                    <a:pt x="2689860" y="2564130"/>
                    <a:pt x="2691130" y="2504440"/>
                  </a:cubicBezTo>
                  <a:cubicBezTo>
                    <a:pt x="2693670" y="2501900"/>
                    <a:pt x="2688590" y="1215390"/>
                    <a:pt x="2689860" y="1212850"/>
                  </a:cubicBezTo>
                  <a:cubicBezTo>
                    <a:pt x="2689860" y="1193800"/>
                    <a:pt x="2687320" y="1174750"/>
                    <a:pt x="2686050" y="1158240"/>
                  </a:cubicBezTo>
                  <a:cubicBezTo>
                    <a:pt x="2679700" y="1062990"/>
                    <a:pt x="2584450" y="955040"/>
                    <a:pt x="2457450" y="955040"/>
                  </a:cubicBezTo>
                  <a:cubicBezTo>
                    <a:pt x="2336800" y="952500"/>
                    <a:pt x="2193290" y="951230"/>
                    <a:pt x="2048510" y="955040"/>
                  </a:cubicBezTo>
                  <a:cubicBezTo>
                    <a:pt x="1917700" y="958850"/>
                    <a:pt x="1821180" y="1055370"/>
                    <a:pt x="1821180" y="1183640"/>
                  </a:cubicBezTo>
                  <a:lnTo>
                    <a:pt x="1821180" y="1355090"/>
                  </a:lnTo>
                  <a:lnTo>
                    <a:pt x="1819910" y="1591310"/>
                  </a:lnTo>
                  <a:cubicBezTo>
                    <a:pt x="1818640" y="1666240"/>
                    <a:pt x="1793240" y="1728470"/>
                    <a:pt x="1748790" y="1770380"/>
                  </a:cubicBezTo>
                  <a:cubicBezTo>
                    <a:pt x="1703070" y="1813560"/>
                    <a:pt x="1638300" y="1833880"/>
                    <a:pt x="1562100" y="1831340"/>
                  </a:cubicBezTo>
                  <a:cubicBezTo>
                    <a:pt x="1440180" y="1826260"/>
                    <a:pt x="1336040" y="1828800"/>
                    <a:pt x="1207770" y="1833880"/>
                  </a:cubicBezTo>
                  <a:cubicBezTo>
                    <a:pt x="1073150" y="1838960"/>
                    <a:pt x="974090" y="1941830"/>
                    <a:pt x="976630" y="2071370"/>
                  </a:cubicBezTo>
                  <a:cubicBezTo>
                    <a:pt x="979170" y="2190750"/>
                    <a:pt x="979170" y="2320290"/>
                    <a:pt x="976630" y="2416810"/>
                  </a:cubicBezTo>
                  <a:cubicBezTo>
                    <a:pt x="974090" y="2537460"/>
                    <a:pt x="864870" y="2631440"/>
                    <a:pt x="727710" y="2631440"/>
                  </a:cubicBezTo>
                  <a:lnTo>
                    <a:pt x="384810" y="2631440"/>
                  </a:lnTo>
                  <a:cubicBezTo>
                    <a:pt x="257810" y="2623820"/>
                    <a:pt x="115570" y="2692400"/>
                    <a:pt x="110490" y="2828290"/>
                  </a:cubicBezTo>
                  <a:cubicBezTo>
                    <a:pt x="106680" y="2959100"/>
                    <a:pt x="105410" y="3091180"/>
                    <a:pt x="106680" y="3221990"/>
                  </a:cubicBezTo>
                  <a:cubicBezTo>
                    <a:pt x="107950" y="3267710"/>
                    <a:pt x="123190" y="3313430"/>
                    <a:pt x="147320" y="3354070"/>
                  </a:cubicBezTo>
                  <a:cubicBezTo>
                    <a:pt x="191770" y="3421380"/>
                    <a:pt x="264160" y="3455670"/>
                    <a:pt x="364490" y="3455670"/>
                  </a:cubicBezTo>
                  <a:cubicBezTo>
                    <a:pt x="364490" y="3455670"/>
                    <a:pt x="1052830" y="3455670"/>
                    <a:pt x="1052830" y="3455670"/>
                  </a:cubicBezTo>
                  <a:cubicBezTo>
                    <a:pt x="1221740" y="3454400"/>
                    <a:pt x="1562100" y="3455670"/>
                    <a:pt x="1731010" y="3455670"/>
                  </a:cubicBezTo>
                  <a:cubicBezTo>
                    <a:pt x="1805940" y="3455670"/>
                    <a:pt x="1866900" y="3394710"/>
                    <a:pt x="1866900" y="3319780"/>
                  </a:cubicBezTo>
                  <a:lnTo>
                    <a:pt x="1866900" y="2837180"/>
                  </a:lnTo>
                  <a:cubicBezTo>
                    <a:pt x="1865630" y="2715260"/>
                    <a:pt x="1965960" y="2612390"/>
                    <a:pt x="2090420" y="2612390"/>
                  </a:cubicBezTo>
                  <a:close/>
                  <a:moveTo>
                    <a:pt x="2496820" y="2670810"/>
                  </a:moveTo>
                  <a:lnTo>
                    <a:pt x="2134870" y="2670810"/>
                  </a:lnTo>
                  <a:cubicBezTo>
                    <a:pt x="2020570" y="2670810"/>
                    <a:pt x="1927860" y="2763520"/>
                    <a:pt x="1927860" y="2877820"/>
                  </a:cubicBezTo>
                  <a:lnTo>
                    <a:pt x="1927860" y="3239770"/>
                  </a:lnTo>
                  <a:cubicBezTo>
                    <a:pt x="1927860" y="3354070"/>
                    <a:pt x="2020570" y="3446780"/>
                    <a:pt x="2134870" y="3446780"/>
                  </a:cubicBezTo>
                  <a:lnTo>
                    <a:pt x="2496820" y="3446780"/>
                  </a:lnTo>
                  <a:cubicBezTo>
                    <a:pt x="2611120" y="3446780"/>
                    <a:pt x="2703830" y="3354070"/>
                    <a:pt x="2703830" y="3239770"/>
                  </a:cubicBezTo>
                  <a:lnTo>
                    <a:pt x="2703830" y="2877820"/>
                  </a:lnTo>
                  <a:cubicBezTo>
                    <a:pt x="2703830" y="2763520"/>
                    <a:pt x="2611120" y="2670810"/>
                    <a:pt x="2496820" y="2670810"/>
                  </a:cubicBezTo>
                  <a:close/>
                  <a:moveTo>
                    <a:pt x="248920" y="810260"/>
                  </a:moveTo>
                  <a:lnTo>
                    <a:pt x="596900" y="810260"/>
                  </a:lnTo>
                  <a:cubicBezTo>
                    <a:pt x="711200" y="810260"/>
                    <a:pt x="803910" y="717550"/>
                    <a:pt x="803910" y="603250"/>
                  </a:cubicBezTo>
                  <a:lnTo>
                    <a:pt x="803910" y="276860"/>
                  </a:lnTo>
                  <a:cubicBezTo>
                    <a:pt x="803910" y="162560"/>
                    <a:pt x="711200" y="69850"/>
                    <a:pt x="596900" y="69850"/>
                  </a:cubicBezTo>
                  <a:lnTo>
                    <a:pt x="248920" y="69850"/>
                  </a:lnTo>
                  <a:cubicBezTo>
                    <a:pt x="134620" y="69850"/>
                    <a:pt x="41910" y="162560"/>
                    <a:pt x="41910" y="276860"/>
                  </a:cubicBezTo>
                  <a:lnTo>
                    <a:pt x="41910" y="603250"/>
                  </a:lnTo>
                  <a:cubicBezTo>
                    <a:pt x="41910" y="717550"/>
                    <a:pt x="134620" y="810260"/>
                    <a:pt x="248920" y="810260"/>
                  </a:cubicBezTo>
                  <a:close/>
                </a:path>
              </a:pathLst>
            </a:custGeom>
            <a:blipFill>
              <a:blip r:embed="rId2"/>
              <a:stretch>
                <a:fillRect l="-40184" r="-40184"/>
              </a:stretch>
            </a:blipFill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7" name="Freeform 7"/>
          <p:cNvSpPr/>
          <p:nvPr/>
        </p:nvSpPr>
        <p:spPr>
          <a:xfrm>
            <a:off x="16085406" y="8671353"/>
            <a:ext cx="1173894" cy="1173894"/>
          </a:xfrm>
          <a:custGeom>
            <a:avLst/>
            <a:gdLst/>
            <a:ahLst/>
            <a:cxnLst/>
            <a:rect l="l" t="t" r="r" b="b"/>
            <a:pathLst>
              <a:path w="1173894" h="1173894">
                <a:moveTo>
                  <a:pt x="0" y="0"/>
                </a:moveTo>
                <a:lnTo>
                  <a:pt x="1173894" y="0"/>
                </a:lnTo>
                <a:lnTo>
                  <a:pt x="1173894" y="1173894"/>
                </a:lnTo>
                <a:lnTo>
                  <a:pt x="0" y="11738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8" name="TextBox 8"/>
          <p:cNvSpPr txBox="1"/>
          <p:nvPr/>
        </p:nvSpPr>
        <p:spPr>
          <a:xfrm>
            <a:off x="8518329" y="3355143"/>
            <a:ext cx="9769671" cy="3212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</a:pPr>
            <a:r>
              <a:rPr lang="en-US" sz="8000" b="1">
                <a:solidFill>
                  <a:srgbClr val="FFFFFF"/>
                </a:solidFill>
                <a:latin typeface="Touvlo Bold"/>
                <a:ea typeface="Touvlo Bold"/>
                <a:cs typeface="Touvlo Bold"/>
                <a:sym typeface="Touvlo Bold"/>
              </a:rPr>
              <a:t>Velocity Fibre:</a:t>
            </a:r>
          </a:p>
          <a:p>
            <a:pPr marL="0" lvl="0" indent="0" algn="l">
              <a:lnSpc>
                <a:spcPts val="5700"/>
              </a:lnSpc>
            </a:pPr>
            <a:r>
              <a:rPr lang="en-US" sz="5700" b="1">
                <a:solidFill>
                  <a:srgbClr val="FFFFFF"/>
                </a:solidFill>
                <a:latin typeface="Touvlo Bold"/>
                <a:ea typeface="Touvlo Bold"/>
                <a:cs typeface="Touvlo Bold"/>
                <a:sym typeface="Touvlo Bold"/>
              </a:rPr>
              <a:t> </a:t>
            </a:r>
          </a:p>
          <a:p>
            <a:pPr marL="0" lvl="0" indent="0" algn="l">
              <a:lnSpc>
                <a:spcPts val="5700"/>
              </a:lnSpc>
            </a:pPr>
            <a:r>
              <a:rPr lang="en-US" sz="5700" b="1">
                <a:solidFill>
                  <a:srgbClr val="FFFFFF"/>
                </a:solidFill>
                <a:latin typeface="Touvlo Bold"/>
                <a:ea typeface="Touvlo Bold"/>
                <a:cs typeface="Touvlo Bold"/>
                <a:sym typeface="Touvlo Bold"/>
              </a:rPr>
              <a:t>Connecting Communities, Empowering Futures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9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710904" cy="10287000"/>
            <a:chOff x="0" y="0"/>
            <a:chExt cx="2030855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30855" cy="2709333"/>
            </a:xfrm>
            <a:custGeom>
              <a:avLst/>
              <a:gdLst/>
              <a:ahLst/>
              <a:cxnLst/>
              <a:rect l="l" t="t" r="r" b="b"/>
              <a:pathLst>
                <a:path w="2030855" h="2709333">
                  <a:moveTo>
                    <a:pt x="100402" y="0"/>
                  </a:moveTo>
                  <a:lnTo>
                    <a:pt x="1930453" y="0"/>
                  </a:lnTo>
                  <a:cubicBezTo>
                    <a:pt x="1957081" y="0"/>
                    <a:pt x="1982619" y="10578"/>
                    <a:pt x="2001448" y="29407"/>
                  </a:cubicBezTo>
                  <a:cubicBezTo>
                    <a:pt x="2020277" y="48236"/>
                    <a:pt x="2030855" y="73774"/>
                    <a:pt x="2030855" y="100402"/>
                  </a:cubicBezTo>
                  <a:lnTo>
                    <a:pt x="2030855" y="2608931"/>
                  </a:lnTo>
                  <a:cubicBezTo>
                    <a:pt x="2030855" y="2635559"/>
                    <a:pt x="2020277" y="2661097"/>
                    <a:pt x="2001448" y="2679926"/>
                  </a:cubicBezTo>
                  <a:cubicBezTo>
                    <a:pt x="1982619" y="2698755"/>
                    <a:pt x="1957081" y="2709333"/>
                    <a:pt x="1930453" y="2709333"/>
                  </a:cubicBezTo>
                  <a:lnTo>
                    <a:pt x="100402" y="2709333"/>
                  </a:lnTo>
                  <a:cubicBezTo>
                    <a:pt x="73774" y="2709333"/>
                    <a:pt x="48236" y="2698755"/>
                    <a:pt x="29407" y="2679926"/>
                  </a:cubicBezTo>
                  <a:cubicBezTo>
                    <a:pt x="10578" y="2661097"/>
                    <a:pt x="0" y="2635559"/>
                    <a:pt x="0" y="2608931"/>
                  </a:cubicBezTo>
                  <a:lnTo>
                    <a:pt x="0" y="100402"/>
                  </a:lnTo>
                  <a:cubicBezTo>
                    <a:pt x="0" y="73774"/>
                    <a:pt x="10578" y="48236"/>
                    <a:pt x="29407" y="29407"/>
                  </a:cubicBezTo>
                  <a:cubicBezTo>
                    <a:pt x="48236" y="10578"/>
                    <a:pt x="73774" y="0"/>
                    <a:pt x="100402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030855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45324" y="1028700"/>
            <a:ext cx="6420255" cy="8229600"/>
            <a:chOff x="0" y="0"/>
            <a:chExt cx="4470400" cy="5730240"/>
          </a:xfrm>
        </p:grpSpPr>
        <p:sp>
          <p:nvSpPr>
            <p:cNvPr id="6" name="Freeform 6"/>
            <p:cNvSpPr/>
            <p:nvPr/>
          </p:nvSpPr>
          <p:spPr>
            <a:xfrm>
              <a:off x="0" y="-30480"/>
              <a:ext cx="4470400" cy="5858510"/>
            </a:xfrm>
            <a:custGeom>
              <a:avLst/>
              <a:gdLst/>
              <a:ahLst/>
              <a:cxnLst/>
              <a:rect l="l" t="t" r="r" b="b"/>
              <a:pathLst>
                <a:path w="4470400" h="5858510">
                  <a:moveTo>
                    <a:pt x="3860800" y="4861560"/>
                  </a:moveTo>
                  <a:cubicBezTo>
                    <a:pt x="3749040" y="4674870"/>
                    <a:pt x="3567430" y="4598670"/>
                    <a:pt x="3351530" y="4596130"/>
                  </a:cubicBezTo>
                  <a:cubicBezTo>
                    <a:pt x="2995930" y="4592320"/>
                    <a:pt x="2727960" y="4225290"/>
                    <a:pt x="2830830" y="3884930"/>
                  </a:cubicBezTo>
                  <a:cubicBezTo>
                    <a:pt x="2909570" y="3622040"/>
                    <a:pt x="3114040" y="3467100"/>
                    <a:pt x="3394710" y="3458210"/>
                  </a:cubicBezTo>
                  <a:cubicBezTo>
                    <a:pt x="3675380" y="3449320"/>
                    <a:pt x="3907790" y="3234690"/>
                    <a:pt x="3937000" y="2961640"/>
                  </a:cubicBezTo>
                  <a:cubicBezTo>
                    <a:pt x="3966210" y="2688590"/>
                    <a:pt x="3792220" y="2409190"/>
                    <a:pt x="3519170" y="2335530"/>
                  </a:cubicBezTo>
                  <a:cubicBezTo>
                    <a:pt x="3437890" y="2313940"/>
                    <a:pt x="3355340" y="2324100"/>
                    <a:pt x="3274060" y="2310130"/>
                  </a:cubicBezTo>
                  <a:cubicBezTo>
                    <a:pt x="2931160" y="2250440"/>
                    <a:pt x="2707640" y="1907540"/>
                    <a:pt x="2830830" y="1545590"/>
                  </a:cubicBezTo>
                  <a:cubicBezTo>
                    <a:pt x="2908300" y="1316990"/>
                    <a:pt x="3110230" y="1177290"/>
                    <a:pt x="3354070" y="1170940"/>
                  </a:cubicBezTo>
                  <a:cubicBezTo>
                    <a:pt x="3717290" y="1159510"/>
                    <a:pt x="3980180" y="859790"/>
                    <a:pt x="3917950" y="490220"/>
                  </a:cubicBezTo>
                  <a:cubicBezTo>
                    <a:pt x="3879850" y="260350"/>
                    <a:pt x="3675380" y="66040"/>
                    <a:pt x="3456940" y="36830"/>
                  </a:cubicBezTo>
                  <a:cubicBezTo>
                    <a:pt x="3192780" y="0"/>
                    <a:pt x="2966720" y="116840"/>
                    <a:pt x="2848610" y="340360"/>
                  </a:cubicBezTo>
                  <a:cubicBezTo>
                    <a:pt x="2791460" y="449580"/>
                    <a:pt x="2791460" y="566420"/>
                    <a:pt x="2777490" y="683260"/>
                  </a:cubicBezTo>
                  <a:cubicBezTo>
                    <a:pt x="2730500" y="1101090"/>
                    <a:pt x="2250440" y="1297940"/>
                    <a:pt x="1927860" y="1104900"/>
                  </a:cubicBezTo>
                  <a:cubicBezTo>
                    <a:pt x="1731010" y="986790"/>
                    <a:pt x="1652270" y="805180"/>
                    <a:pt x="1642110" y="584200"/>
                  </a:cubicBezTo>
                  <a:cubicBezTo>
                    <a:pt x="1630680" y="350520"/>
                    <a:pt x="1475740" y="148590"/>
                    <a:pt x="1252220" y="77470"/>
                  </a:cubicBezTo>
                  <a:cubicBezTo>
                    <a:pt x="1024890" y="6350"/>
                    <a:pt x="777240" y="81280"/>
                    <a:pt x="633730" y="265430"/>
                  </a:cubicBezTo>
                  <a:cubicBezTo>
                    <a:pt x="490220" y="449580"/>
                    <a:pt x="466090" y="716280"/>
                    <a:pt x="590550" y="916940"/>
                  </a:cubicBezTo>
                  <a:cubicBezTo>
                    <a:pt x="715010" y="1117600"/>
                    <a:pt x="892810" y="1189990"/>
                    <a:pt x="1117600" y="1197610"/>
                  </a:cubicBezTo>
                  <a:cubicBezTo>
                    <a:pt x="1430020" y="1207770"/>
                    <a:pt x="1658620" y="1464310"/>
                    <a:pt x="1653540" y="1781810"/>
                  </a:cubicBezTo>
                  <a:cubicBezTo>
                    <a:pt x="1649730" y="2078990"/>
                    <a:pt x="1395730" y="2329180"/>
                    <a:pt x="1093470" y="2334260"/>
                  </a:cubicBezTo>
                  <a:cubicBezTo>
                    <a:pt x="718820" y="2341880"/>
                    <a:pt x="454660" y="2684780"/>
                    <a:pt x="541020" y="3051810"/>
                  </a:cubicBezTo>
                  <a:cubicBezTo>
                    <a:pt x="599440" y="3298190"/>
                    <a:pt x="830580" y="3481070"/>
                    <a:pt x="1084580" y="3483610"/>
                  </a:cubicBezTo>
                  <a:cubicBezTo>
                    <a:pt x="1273810" y="3484880"/>
                    <a:pt x="1433830" y="3552190"/>
                    <a:pt x="1549400" y="3703320"/>
                  </a:cubicBezTo>
                  <a:cubicBezTo>
                    <a:pt x="1690370" y="3888740"/>
                    <a:pt x="1713230" y="4094480"/>
                    <a:pt x="1610360" y="4301490"/>
                  </a:cubicBezTo>
                  <a:cubicBezTo>
                    <a:pt x="1507490" y="4508500"/>
                    <a:pt x="1332230" y="4615180"/>
                    <a:pt x="1099820" y="4618990"/>
                  </a:cubicBezTo>
                  <a:cubicBezTo>
                    <a:pt x="795020" y="4625340"/>
                    <a:pt x="528320" y="4886960"/>
                    <a:pt x="539750" y="5125720"/>
                  </a:cubicBezTo>
                  <a:cubicBezTo>
                    <a:pt x="551180" y="5364480"/>
                    <a:pt x="595630" y="5485130"/>
                    <a:pt x="709930" y="5596890"/>
                  </a:cubicBezTo>
                  <a:cubicBezTo>
                    <a:pt x="857250" y="5740400"/>
                    <a:pt x="1032510" y="5783580"/>
                    <a:pt x="1226820" y="5748020"/>
                  </a:cubicBezTo>
                  <a:cubicBezTo>
                    <a:pt x="1497330" y="5697220"/>
                    <a:pt x="1678940" y="5464810"/>
                    <a:pt x="1680210" y="5175250"/>
                  </a:cubicBezTo>
                  <a:cubicBezTo>
                    <a:pt x="1681480" y="4851400"/>
                    <a:pt x="1971040" y="4541520"/>
                    <a:pt x="2381250" y="4629150"/>
                  </a:cubicBezTo>
                  <a:cubicBezTo>
                    <a:pt x="2631440" y="4682490"/>
                    <a:pt x="2809240" y="4907280"/>
                    <a:pt x="2814320" y="5162550"/>
                  </a:cubicBezTo>
                  <a:cubicBezTo>
                    <a:pt x="2818130" y="5327650"/>
                    <a:pt x="2874010" y="5468620"/>
                    <a:pt x="2989580" y="5582920"/>
                  </a:cubicBezTo>
                  <a:cubicBezTo>
                    <a:pt x="3265170" y="5858510"/>
                    <a:pt x="3732530" y="5741670"/>
                    <a:pt x="3876040" y="5469890"/>
                  </a:cubicBezTo>
                  <a:cubicBezTo>
                    <a:pt x="3991610" y="5252720"/>
                    <a:pt x="3977640" y="5055870"/>
                    <a:pt x="3860800" y="4861560"/>
                  </a:cubicBezTo>
                  <a:close/>
                  <a:moveTo>
                    <a:pt x="2221230" y="71120"/>
                  </a:moveTo>
                  <a:cubicBezTo>
                    <a:pt x="2500630" y="72390"/>
                    <a:pt x="2727960" y="298450"/>
                    <a:pt x="2729230" y="577850"/>
                  </a:cubicBezTo>
                  <a:cubicBezTo>
                    <a:pt x="2731770" y="857250"/>
                    <a:pt x="2496820" y="1085850"/>
                    <a:pt x="2208530" y="1083310"/>
                  </a:cubicBezTo>
                  <a:cubicBezTo>
                    <a:pt x="1920240" y="1080770"/>
                    <a:pt x="1705610" y="843280"/>
                    <a:pt x="1709420" y="538480"/>
                  </a:cubicBezTo>
                  <a:cubicBezTo>
                    <a:pt x="1711960" y="285750"/>
                    <a:pt x="1949450" y="69850"/>
                    <a:pt x="2221230" y="71120"/>
                  </a:cubicBezTo>
                  <a:close/>
                  <a:moveTo>
                    <a:pt x="2246630" y="4696460"/>
                  </a:moveTo>
                  <a:cubicBezTo>
                    <a:pt x="2526030" y="4697730"/>
                    <a:pt x="2753360" y="4923790"/>
                    <a:pt x="2754630" y="5203190"/>
                  </a:cubicBezTo>
                  <a:cubicBezTo>
                    <a:pt x="2757170" y="5482590"/>
                    <a:pt x="2522220" y="5711190"/>
                    <a:pt x="2233930" y="5708650"/>
                  </a:cubicBezTo>
                  <a:cubicBezTo>
                    <a:pt x="1945640" y="5706110"/>
                    <a:pt x="1731010" y="5469890"/>
                    <a:pt x="1734820" y="5163820"/>
                  </a:cubicBezTo>
                  <a:cubicBezTo>
                    <a:pt x="1737360" y="4911090"/>
                    <a:pt x="1974850" y="4695190"/>
                    <a:pt x="2246630" y="4696460"/>
                  </a:cubicBezTo>
                  <a:close/>
                  <a:moveTo>
                    <a:pt x="482600" y="1254760"/>
                  </a:moveTo>
                  <a:lnTo>
                    <a:pt x="1068070" y="1254760"/>
                  </a:lnTo>
                  <a:cubicBezTo>
                    <a:pt x="1334770" y="1254760"/>
                    <a:pt x="1550670" y="1470660"/>
                    <a:pt x="1550670" y="1737360"/>
                  </a:cubicBezTo>
                  <a:lnTo>
                    <a:pt x="1550670" y="1765300"/>
                  </a:lnTo>
                  <a:cubicBezTo>
                    <a:pt x="1550670" y="2032000"/>
                    <a:pt x="1334770" y="2247900"/>
                    <a:pt x="1068070" y="2247900"/>
                  </a:cubicBezTo>
                  <a:lnTo>
                    <a:pt x="482600" y="2247900"/>
                  </a:lnTo>
                  <a:cubicBezTo>
                    <a:pt x="215900" y="2247900"/>
                    <a:pt x="0" y="2032000"/>
                    <a:pt x="0" y="1765300"/>
                  </a:cubicBezTo>
                  <a:lnTo>
                    <a:pt x="0" y="1737360"/>
                  </a:lnTo>
                  <a:cubicBezTo>
                    <a:pt x="0" y="1470660"/>
                    <a:pt x="215900" y="1254760"/>
                    <a:pt x="482600" y="1254760"/>
                  </a:cubicBezTo>
                  <a:close/>
                  <a:moveTo>
                    <a:pt x="482600" y="3556000"/>
                  </a:moveTo>
                  <a:lnTo>
                    <a:pt x="1068070" y="3556000"/>
                  </a:lnTo>
                  <a:cubicBezTo>
                    <a:pt x="1334770" y="3556000"/>
                    <a:pt x="1550670" y="3771900"/>
                    <a:pt x="1550670" y="4038600"/>
                  </a:cubicBezTo>
                  <a:lnTo>
                    <a:pt x="1550670" y="4066540"/>
                  </a:lnTo>
                  <a:cubicBezTo>
                    <a:pt x="1550670" y="4333240"/>
                    <a:pt x="1334770" y="4549140"/>
                    <a:pt x="1068070" y="4549140"/>
                  </a:cubicBezTo>
                  <a:lnTo>
                    <a:pt x="482600" y="4549140"/>
                  </a:lnTo>
                  <a:cubicBezTo>
                    <a:pt x="215900" y="4549140"/>
                    <a:pt x="0" y="4333240"/>
                    <a:pt x="0" y="4066540"/>
                  </a:cubicBezTo>
                  <a:lnTo>
                    <a:pt x="0" y="4038600"/>
                  </a:lnTo>
                  <a:cubicBezTo>
                    <a:pt x="0" y="3771900"/>
                    <a:pt x="215900" y="3556000"/>
                    <a:pt x="482600" y="3556000"/>
                  </a:cubicBezTo>
                  <a:close/>
                  <a:moveTo>
                    <a:pt x="3389630" y="1242060"/>
                  </a:moveTo>
                  <a:lnTo>
                    <a:pt x="3975100" y="1242060"/>
                  </a:lnTo>
                  <a:cubicBezTo>
                    <a:pt x="4241800" y="1242060"/>
                    <a:pt x="4457700" y="1457960"/>
                    <a:pt x="4457700" y="1724660"/>
                  </a:cubicBezTo>
                  <a:lnTo>
                    <a:pt x="4457700" y="1752600"/>
                  </a:lnTo>
                  <a:cubicBezTo>
                    <a:pt x="4457700" y="2019300"/>
                    <a:pt x="4241800" y="2235200"/>
                    <a:pt x="3975100" y="2235200"/>
                  </a:cubicBezTo>
                  <a:lnTo>
                    <a:pt x="3389630" y="2235200"/>
                  </a:lnTo>
                  <a:cubicBezTo>
                    <a:pt x="3122930" y="2235200"/>
                    <a:pt x="2907030" y="2019300"/>
                    <a:pt x="2907030" y="1752600"/>
                  </a:cubicBezTo>
                  <a:lnTo>
                    <a:pt x="2907030" y="1724660"/>
                  </a:lnTo>
                  <a:cubicBezTo>
                    <a:pt x="2907030" y="1457960"/>
                    <a:pt x="3122930" y="1242060"/>
                    <a:pt x="3389630" y="1242060"/>
                  </a:cubicBezTo>
                  <a:close/>
                  <a:moveTo>
                    <a:pt x="3402330" y="3530600"/>
                  </a:moveTo>
                  <a:lnTo>
                    <a:pt x="3987800" y="3530600"/>
                  </a:lnTo>
                  <a:cubicBezTo>
                    <a:pt x="4254500" y="3530600"/>
                    <a:pt x="4470400" y="3746500"/>
                    <a:pt x="4470400" y="4013200"/>
                  </a:cubicBezTo>
                  <a:lnTo>
                    <a:pt x="4470400" y="4041140"/>
                  </a:lnTo>
                  <a:cubicBezTo>
                    <a:pt x="4470400" y="4307840"/>
                    <a:pt x="4254500" y="4523740"/>
                    <a:pt x="3987800" y="4523740"/>
                  </a:cubicBezTo>
                  <a:lnTo>
                    <a:pt x="3402330" y="4523740"/>
                  </a:lnTo>
                  <a:cubicBezTo>
                    <a:pt x="3135630" y="4523740"/>
                    <a:pt x="2919730" y="4307840"/>
                    <a:pt x="2919730" y="4041140"/>
                  </a:cubicBezTo>
                  <a:lnTo>
                    <a:pt x="2919730" y="4013200"/>
                  </a:lnTo>
                  <a:cubicBezTo>
                    <a:pt x="2919730" y="3746500"/>
                    <a:pt x="3135630" y="3530600"/>
                    <a:pt x="3402330" y="3530600"/>
                  </a:cubicBezTo>
                  <a:close/>
                </a:path>
              </a:pathLst>
            </a:custGeom>
            <a:blipFill>
              <a:blip r:embed="rId2"/>
              <a:stretch>
                <a:fillRect l="-63928" r="-63928"/>
              </a:stretch>
            </a:blipFill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153400" y="369373"/>
            <a:ext cx="9183548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buNone/>
            </a:pPr>
            <a:r>
              <a:rPr lang="en-US" sz="8000" b="1" dirty="0">
                <a:solidFill>
                  <a:schemeClr val="bg1"/>
                </a:solidFill>
              </a:rPr>
              <a:t>Strategic Overview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153400" y="1989768"/>
            <a:ext cx="9703172" cy="7958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</a:rPr>
              <a:t>Core Business:</a:t>
            </a:r>
            <a:r>
              <a:rPr lang="en-US" sz="3200" dirty="0">
                <a:solidFill>
                  <a:schemeClr val="bg1"/>
                </a:solidFill>
              </a:rPr>
              <a:t> End-to-end </a:t>
            </a:r>
            <a:r>
              <a:rPr lang="en-US" sz="3200" dirty="0" err="1">
                <a:solidFill>
                  <a:schemeClr val="bg1"/>
                </a:solidFill>
              </a:rPr>
              <a:t>fibre</a:t>
            </a:r>
            <a:r>
              <a:rPr lang="en-US" sz="3200" dirty="0">
                <a:solidFill>
                  <a:schemeClr val="bg1"/>
                </a:solidFill>
              </a:rPr>
              <a:t> infrastructure development and maintenance — from design and planning to full turnkey build, transfer, and long-term network operations.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bg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</a:rPr>
              <a:t>Market Position:</a:t>
            </a:r>
            <a:r>
              <a:rPr lang="en-US" sz="3200" dirty="0">
                <a:solidFill>
                  <a:schemeClr val="bg1"/>
                </a:solidFill>
              </a:rPr>
              <a:t> Approved build partner to </a:t>
            </a:r>
            <a:r>
              <a:rPr lang="en-US" sz="3200" b="1" dirty="0">
                <a:solidFill>
                  <a:schemeClr val="bg1"/>
                </a:solidFill>
              </a:rPr>
              <a:t>two of South Africa’s largest </a:t>
            </a:r>
            <a:r>
              <a:rPr lang="en-US" sz="3200" b="1" dirty="0" err="1">
                <a:solidFill>
                  <a:schemeClr val="bg1"/>
                </a:solidFill>
              </a:rPr>
              <a:t>Fibre</a:t>
            </a:r>
            <a:r>
              <a:rPr lang="en-US" sz="3200" b="1" dirty="0">
                <a:solidFill>
                  <a:schemeClr val="bg1"/>
                </a:solidFill>
              </a:rPr>
              <a:t> Network Operators (FNOs)</a:t>
            </a:r>
            <a:r>
              <a:rPr lang="en-US" sz="3200" dirty="0">
                <a:solidFill>
                  <a:schemeClr val="bg1"/>
                </a:solidFill>
              </a:rPr>
              <a:t>, currently holding </a:t>
            </a:r>
            <a:r>
              <a:rPr lang="en-US" sz="3200" b="1" dirty="0">
                <a:solidFill>
                  <a:schemeClr val="bg1"/>
                </a:solidFill>
              </a:rPr>
              <a:t>purchase orders for over 250 000 home connections</a:t>
            </a:r>
            <a:r>
              <a:rPr lang="en-US" sz="3200" dirty="0">
                <a:solidFill>
                  <a:schemeClr val="bg1"/>
                </a:solidFill>
              </a:rPr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bg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</a:rPr>
              <a:t>Vision:</a:t>
            </a:r>
            <a:r>
              <a:rPr lang="en-US" sz="3200" dirty="0">
                <a:solidFill>
                  <a:schemeClr val="bg1"/>
                </a:solidFill>
              </a:rPr>
              <a:t> To become Africa’s leading independent </a:t>
            </a:r>
            <a:r>
              <a:rPr lang="en-US" sz="3200" dirty="0" err="1">
                <a:solidFill>
                  <a:schemeClr val="bg1"/>
                </a:solidFill>
              </a:rPr>
              <a:t>fibre</a:t>
            </a:r>
            <a:r>
              <a:rPr lang="en-US" sz="3200" dirty="0">
                <a:solidFill>
                  <a:schemeClr val="bg1"/>
                </a:solidFill>
              </a:rPr>
              <a:t> delivery and management partner, connecting communities and driving digital inclusion under the banner </a:t>
            </a:r>
            <a:r>
              <a:rPr lang="en-US" sz="3200" i="1" dirty="0">
                <a:solidFill>
                  <a:schemeClr val="bg1"/>
                </a:solidFill>
              </a:rPr>
              <a:t>“Connecting Communities, Empowering Futures.”</a:t>
            </a:r>
            <a:endParaRPr lang="en-US" sz="3200" dirty="0">
              <a:solidFill>
                <a:schemeClr val="bg1"/>
              </a:solidFill>
            </a:endParaRPr>
          </a:p>
          <a:p>
            <a:pPr marL="0" lvl="0" indent="0" algn="l">
              <a:lnSpc>
                <a:spcPts val="4759"/>
              </a:lnSpc>
            </a:pPr>
            <a:endParaRPr lang="en-US" sz="3399" b="1" dirty="0">
              <a:solidFill>
                <a:schemeClr val="bg1"/>
              </a:solidFill>
              <a:latin typeface="Touvlo Bold"/>
              <a:ea typeface="Touvlo Bold"/>
              <a:cs typeface="Touvlo Bold"/>
              <a:sym typeface="Touvlo Bold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645324" y="6871476"/>
            <a:ext cx="1285596" cy="1231835"/>
          </a:xfrm>
          <a:custGeom>
            <a:avLst/>
            <a:gdLst/>
            <a:ahLst/>
            <a:cxnLst/>
            <a:rect l="l" t="t" r="r" b="b"/>
            <a:pathLst>
              <a:path w="1285596" h="1231835">
                <a:moveTo>
                  <a:pt x="0" y="0"/>
                </a:moveTo>
                <a:lnTo>
                  <a:pt x="1285596" y="0"/>
                </a:lnTo>
                <a:lnTo>
                  <a:pt x="1285596" y="1231835"/>
                </a:lnTo>
                <a:lnTo>
                  <a:pt x="0" y="12318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0" name="Freeform 10"/>
          <p:cNvSpPr/>
          <p:nvPr/>
        </p:nvSpPr>
        <p:spPr>
          <a:xfrm>
            <a:off x="5779983" y="2174873"/>
            <a:ext cx="1285596" cy="1231835"/>
          </a:xfrm>
          <a:custGeom>
            <a:avLst/>
            <a:gdLst/>
            <a:ahLst/>
            <a:cxnLst/>
            <a:rect l="l" t="t" r="r" b="b"/>
            <a:pathLst>
              <a:path w="1285596" h="1231835">
                <a:moveTo>
                  <a:pt x="0" y="0"/>
                </a:moveTo>
                <a:lnTo>
                  <a:pt x="1285597" y="0"/>
                </a:lnTo>
                <a:lnTo>
                  <a:pt x="1285597" y="1231835"/>
                </a:lnTo>
                <a:lnTo>
                  <a:pt x="0" y="12318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9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362292" y="0"/>
            <a:ext cx="7925708" cy="10287000"/>
            <a:chOff x="0" y="0"/>
            <a:chExt cx="2087429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87429" cy="2709333"/>
            </a:xfrm>
            <a:custGeom>
              <a:avLst/>
              <a:gdLst/>
              <a:ahLst/>
              <a:cxnLst/>
              <a:rect l="l" t="t" r="r" b="b"/>
              <a:pathLst>
                <a:path w="2087429" h="2709333">
                  <a:moveTo>
                    <a:pt x="97681" y="0"/>
                  </a:moveTo>
                  <a:lnTo>
                    <a:pt x="1989748" y="0"/>
                  </a:lnTo>
                  <a:cubicBezTo>
                    <a:pt x="2043696" y="0"/>
                    <a:pt x="2087429" y="43733"/>
                    <a:pt x="2087429" y="97681"/>
                  </a:cubicBezTo>
                  <a:lnTo>
                    <a:pt x="2087429" y="2611652"/>
                  </a:lnTo>
                  <a:cubicBezTo>
                    <a:pt x="2087429" y="2665600"/>
                    <a:pt x="2043696" y="2709333"/>
                    <a:pt x="1989748" y="2709333"/>
                  </a:cubicBezTo>
                  <a:lnTo>
                    <a:pt x="97681" y="2709333"/>
                  </a:lnTo>
                  <a:cubicBezTo>
                    <a:pt x="43733" y="2709333"/>
                    <a:pt x="0" y="2665600"/>
                    <a:pt x="0" y="2611652"/>
                  </a:cubicBezTo>
                  <a:lnTo>
                    <a:pt x="0" y="97681"/>
                  </a:lnTo>
                  <a:cubicBezTo>
                    <a:pt x="0" y="43733"/>
                    <a:pt x="43733" y="0"/>
                    <a:pt x="9768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087429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994801" y="917046"/>
            <a:ext cx="6660690" cy="8452908"/>
            <a:chOff x="0" y="0"/>
            <a:chExt cx="3505089" cy="4448217"/>
          </a:xfrm>
        </p:grpSpPr>
        <p:sp>
          <p:nvSpPr>
            <p:cNvPr id="6" name="Freeform 6"/>
            <p:cNvSpPr/>
            <p:nvPr/>
          </p:nvSpPr>
          <p:spPr>
            <a:xfrm>
              <a:off x="-22860" y="-5080"/>
              <a:ext cx="3539378" cy="4491396"/>
            </a:xfrm>
            <a:custGeom>
              <a:avLst/>
              <a:gdLst/>
              <a:ahLst/>
              <a:cxnLst/>
              <a:rect l="l" t="t" r="r" b="b"/>
              <a:pathLst>
                <a:path w="3539378" h="4491396">
                  <a:moveTo>
                    <a:pt x="1206775" y="2221454"/>
                  </a:moveTo>
                  <a:cubicBezTo>
                    <a:pt x="1206775" y="2042465"/>
                    <a:pt x="1207942" y="1863476"/>
                    <a:pt x="1206775" y="1684486"/>
                  </a:cubicBezTo>
                  <a:cubicBezTo>
                    <a:pt x="1205609" y="1336451"/>
                    <a:pt x="948997" y="1091170"/>
                    <a:pt x="581575" y="1082331"/>
                  </a:cubicBezTo>
                  <a:cubicBezTo>
                    <a:pt x="267808" y="1066862"/>
                    <a:pt x="26359" y="813847"/>
                    <a:pt x="42689" y="515531"/>
                  </a:cubicBezTo>
                  <a:cubicBezTo>
                    <a:pt x="57853" y="237103"/>
                    <a:pt x="295802" y="15024"/>
                    <a:pt x="589740" y="5080"/>
                  </a:cubicBezTo>
                  <a:cubicBezTo>
                    <a:pt x="898841" y="2540"/>
                    <a:pt x="1150787" y="238208"/>
                    <a:pt x="1158952" y="534314"/>
                  </a:cubicBezTo>
                  <a:cubicBezTo>
                    <a:pt x="1167117" y="879034"/>
                    <a:pt x="1417897" y="1117687"/>
                    <a:pt x="1781820" y="1128735"/>
                  </a:cubicBezTo>
                  <a:cubicBezTo>
                    <a:pt x="2103751" y="1138679"/>
                    <a:pt x="2341701" y="1369597"/>
                    <a:pt x="2342867" y="1675647"/>
                  </a:cubicBezTo>
                  <a:cubicBezTo>
                    <a:pt x="2344033" y="2036940"/>
                    <a:pt x="2342867" y="2399339"/>
                    <a:pt x="2342867" y="2760632"/>
                  </a:cubicBezTo>
                  <a:cubicBezTo>
                    <a:pt x="2342867" y="3121925"/>
                    <a:pt x="2595980" y="3364997"/>
                    <a:pt x="2973900" y="3377151"/>
                  </a:cubicBezTo>
                  <a:cubicBezTo>
                    <a:pt x="3287666" y="3380465"/>
                    <a:pt x="3539378" y="3624642"/>
                    <a:pt x="3535568" y="3921853"/>
                  </a:cubicBezTo>
                  <a:cubicBezTo>
                    <a:pt x="3531758" y="4219063"/>
                    <a:pt x="3273669" y="4457106"/>
                    <a:pt x="2959903" y="4453296"/>
                  </a:cubicBezTo>
                  <a:cubicBezTo>
                    <a:pt x="2650802" y="4453296"/>
                    <a:pt x="2401188" y="4217959"/>
                    <a:pt x="2393023" y="3920748"/>
                  </a:cubicBezTo>
                  <a:cubicBezTo>
                    <a:pt x="2384858" y="3581552"/>
                    <a:pt x="2128246" y="3337375"/>
                    <a:pt x="1772488" y="3328536"/>
                  </a:cubicBezTo>
                  <a:cubicBezTo>
                    <a:pt x="1450557" y="3321907"/>
                    <a:pt x="1210274" y="3090989"/>
                    <a:pt x="1207942" y="2784939"/>
                  </a:cubicBezTo>
                  <a:cubicBezTo>
                    <a:pt x="1205609" y="2597111"/>
                    <a:pt x="1207942" y="2409282"/>
                    <a:pt x="1206775" y="2221454"/>
                  </a:cubicBezTo>
                  <a:close/>
                  <a:moveTo>
                    <a:pt x="3529218" y="1667913"/>
                  </a:moveTo>
                  <a:lnTo>
                    <a:pt x="3529218" y="2773890"/>
                  </a:lnTo>
                  <a:cubicBezTo>
                    <a:pt x="3527948" y="3088779"/>
                    <a:pt x="3281834" y="3329641"/>
                    <a:pt x="2959903" y="3328536"/>
                  </a:cubicBezTo>
                  <a:cubicBezTo>
                    <a:pt x="2637971" y="3327431"/>
                    <a:pt x="2394189" y="3088779"/>
                    <a:pt x="2393023" y="2777205"/>
                  </a:cubicBezTo>
                  <a:cubicBezTo>
                    <a:pt x="2393023" y="2032521"/>
                    <a:pt x="2393023" y="1287837"/>
                    <a:pt x="2394189" y="544258"/>
                  </a:cubicBezTo>
                  <a:cubicBezTo>
                    <a:pt x="2391857" y="248152"/>
                    <a:pt x="2643803" y="5080"/>
                    <a:pt x="2956403" y="2540"/>
                  </a:cubicBezTo>
                  <a:cubicBezTo>
                    <a:pt x="3237510" y="0"/>
                    <a:pt x="3476626" y="192908"/>
                    <a:pt x="3520950" y="455868"/>
                  </a:cubicBezTo>
                  <a:cubicBezTo>
                    <a:pt x="3526782" y="491224"/>
                    <a:pt x="3529218" y="527685"/>
                    <a:pt x="3527948" y="563041"/>
                  </a:cubicBezTo>
                  <a:cubicBezTo>
                    <a:pt x="3529218" y="932068"/>
                    <a:pt x="3530489" y="1299990"/>
                    <a:pt x="3529218" y="1667913"/>
                  </a:cubicBezTo>
                  <a:close/>
                  <a:moveTo>
                    <a:pt x="593239" y="2250181"/>
                  </a:moveTo>
                  <a:cubicBezTo>
                    <a:pt x="904673" y="2253495"/>
                    <a:pt x="1151953" y="2488833"/>
                    <a:pt x="1158952" y="2790463"/>
                  </a:cubicBezTo>
                  <a:cubicBezTo>
                    <a:pt x="1164784" y="3061157"/>
                    <a:pt x="1339747" y="3282132"/>
                    <a:pt x="1611522" y="3353948"/>
                  </a:cubicBezTo>
                  <a:cubicBezTo>
                    <a:pt x="1669843" y="3368312"/>
                    <a:pt x="1729331" y="3374941"/>
                    <a:pt x="1789985" y="3376046"/>
                  </a:cubicBezTo>
                  <a:cubicBezTo>
                    <a:pt x="2089754" y="3388199"/>
                    <a:pt x="2330036" y="3609174"/>
                    <a:pt x="2342867" y="3887602"/>
                  </a:cubicBezTo>
                  <a:cubicBezTo>
                    <a:pt x="2358030" y="4172659"/>
                    <a:pt x="2135245" y="4419045"/>
                    <a:pt x="1835475" y="4449982"/>
                  </a:cubicBezTo>
                  <a:cubicBezTo>
                    <a:pt x="1504212" y="4491396"/>
                    <a:pt x="1218439" y="4244476"/>
                    <a:pt x="1207942" y="3915223"/>
                  </a:cubicBezTo>
                  <a:cubicBezTo>
                    <a:pt x="1198610" y="3668837"/>
                    <a:pt x="1080802" y="3486533"/>
                    <a:pt x="844019" y="3384885"/>
                  </a:cubicBezTo>
                  <a:cubicBezTo>
                    <a:pt x="764702" y="3349529"/>
                    <a:pt x="670222" y="3335165"/>
                    <a:pt x="581575" y="3330746"/>
                  </a:cubicBezTo>
                  <a:cubicBezTo>
                    <a:pt x="285304" y="3317488"/>
                    <a:pt x="47355" y="3108667"/>
                    <a:pt x="25193" y="2833553"/>
                  </a:cubicBezTo>
                  <a:cubicBezTo>
                    <a:pt x="0" y="2557335"/>
                    <a:pt x="203655" y="2308739"/>
                    <a:pt x="491760" y="2260125"/>
                  </a:cubicBezTo>
                  <a:cubicBezTo>
                    <a:pt x="525586" y="2254600"/>
                    <a:pt x="559413" y="2253495"/>
                    <a:pt x="593239" y="2250181"/>
                  </a:cubicBezTo>
                  <a:close/>
                  <a:moveTo>
                    <a:pt x="24026" y="1665703"/>
                  </a:moveTo>
                  <a:cubicBezTo>
                    <a:pt x="25193" y="1368493"/>
                    <a:pt x="279472" y="1127630"/>
                    <a:pt x="593239" y="1128735"/>
                  </a:cubicBezTo>
                  <a:cubicBezTo>
                    <a:pt x="907005" y="1129840"/>
                    <a:pt x="1161285" y="1370702"/>
                    <a:pt x="1160118" y="1667913"/>
                  </a:cubicBezTo>
                  <a:cubicBezTo>
                    <a:pt x="1158952" y="1965124"/>
                    <a:pt x="905839" y="2204881"/>
                    <a:pt x="592072" y="2204881"/>
                  </a:cubicBezTo>
                  <a:cubicBezTo>
                    <a:pt x="278306" y="2204881"/>
                    <a:pt x="24026" y="1964019"/>
                    <a:pt x="24026" y="1666808"/>
                  </a:cubicBezTo>
                  <a:cubicBezTo>
                    <a:pt x="24026" y="1666808"/>
                    <a:pt x="24026" y="1665703"/>
                    <a:pt x="24026" y="1665703"/>
                  </a:cubicBezTo>
                  <a:close/>
                  <a:moveTo>
                    <a:pt x="1775987" y="5080"/>
                  </a:moveTo>
                  <a:cubicBezTo>
                    <a:pt x="1461054" y="3810"/>
                    <a:pt x="1205609" y="243732"/>
                    <a:pt x="1204442" y="542048"/>
                  </a:cubicBezTo>
                  <a:cubicBezTo>
                    <a:pt x="1203276" y="840364"/>
                    <a:pt x="1456389" y="1082331"/>
                    <a:pt x="1771322" y="1083435"/>
                  </a:cubicBezTo>
                  <a:cubicBezTo>
                    <a:pt x="2086255" y="1084540"/>
                    <a:pt x="2341701" y="844783"/>
                    <a:pt x="2342867" y="546467"/>
                  </a:cubicBezTo>
                  <a:cubicBezTo>
                    <a:pt x="2342867" y="544258"/>
                    <a:pt x="2342867" y="543153"/>
                    <a:pt x="2342867" y="540943"/>
                  </a:cubicBezTo>
                  <a:cubicBezTo>
                    <a:pt x="2340534" y="245942"/>
                    <a:pt x="2087421" y="7290"/>
                    <a:pt x="1775987" y="5080"/>
                  </a:cubicBezTo>
                  <a:close/>
                  <a:moveTo>
                    <a:pt x="592072" y="3376046"/>
                  </a:moveTo>
                  <a:cubicBezTo>
                    <a:pt x="277139" y="3374941"/>
                    <a:pt x="21590" y="3614698"/>
                    <a:pt x="20320" y="3913014"/>
                  </a:cubicBezTo>
                  <a:cubicBezTo>
                    <a:pt x="19050" y="4211329"/>
                    <a:pt x="272474" y="4453296"/>
                    <a:pt x="587407" y="4454567"/>
                  </a:cubicBezTo>
                  <a:cubicBezTo>
                    <a:pt x="902340" y="4455837"/>
                    <a:pt x="1157785" y="4215749"/>
                    <a:pt x="1158952" y="3917433"/>
                  </a:cubicBezTo>
                  <a:cubicBezTo>
                    <a:pt x="1158952" y="3915223"/>
                    <a:pt x="1158952" y="3914119"/>
                    <a:pt x="1158952" y="3911909"/>
                  </a:cubicBezTo>
                  <a:cubicBezTo>
                    <a:pt x="1156619" y="3616908"/>
                    <a:pt x="903506" y="3378256"/>
                    <a:pt x="592072" y="3376046"/>
                  </a:cubicBezTo>
                  <a:close/>
                </a:path>
              </a:pathLst>
            </a:custGeom>
            <a:blipFill>
              <a:blip r:embed="rId2"/>
              <a:stretch>
                <a:fillRect l="-44986" r="-44986"/>
              </a:stretch>
            </a:blipFill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7" name="Freeform 7"/>
          <p:cNvSpPr/>
          <p:nvPr/>
        </p:nvSpPr>
        <p:spPr>
          <a:xfrm>
            <a:off x="11464220" y="8642383"/>
            <a:ext cx="1285596" cy="1231835"/>
          </a:xfrm>
          <a:custGeom>
            <a:avLst/>
            <a:gdLst/>
            <a:ahLst/>
            <a:cxnLst/>
            <a:rect l="l" t="t" r="r" b="b"/>
            <a:pathLst>
              <a:path w="1285596" h="1231835">
                <a:moveTo>
                  <a:pt x="0" y="0"/>
                </a:moveTo>
                <a:lnTo>
                  <a:pt x="1285596" y="0"/>
                </a:lnTo>
                <a:lnTo>
                  <a:pt x="1285596" y="1231834"/>
                </a:lnTo>
                <a:lnTo>
                  <a:pt x="0" y="12318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8" name="Freeform 8"/>
          <p:cNvSpPr/>
          <p:nvPr/>
        </p:nvSpPr>
        <p:spPr>
          <a:xfrm>
            <a:off x="15973704" y="348092"/>
            <a:ext cx="1285596" cy="1231835"/>
          </a:xfrm>
          <a:custGeom>
            <a:avLst/>
            <a:gdLst/>
            <a:ahLst/>
            <a:cxnLst/>
            <a:rect l="l" t="t" r="r" b="b"/>
            <a:pathLst>
              <a:path w="1285596" h="1231835">
                <a:moveTo>
                  <a:pt x="0" y="0"/>
                </a:moveTo>
                <a:lnTo>
                  <a:pt x="1285596" y="0"/>
                </a:lnTo>
                <a:lnTo>
                  <a:pt x="1285596" y="1231835"/>
                </a:lnTo>
                <a:lnTo>
                  <a:pt x="0" y="12318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grpSp>
        <p:nvGrpSpPr>
          <p:cNvPr id="9" name="Group 9"/>
          <p:cNvGrpSpPr/>
          <p:nvPr/>
        </p:nvGrpSpPr>
        <p:grpSpPr>
          <a:xfrm>
            <a:off x="314158" y="588053"/>
            <a:ext cx="9753600" cy="8649230"/>
            <a:chOff x="-952723" y="-438656"/>
            <a:chExt cx="13004801" cy="11532307"/>
          </a:xfrm>
        </p:grpSpPr>
        <p:sp>
          <p:nvSpPr>
            <p:cNvPr id="10" name="TextBox 10"/>
            <p:cNvSpPr txBox="1"/>
            <p:nvPr/>
          </p:nvSpPr>
          <p:spPr>
            <a:xfrm>
              <a:off x="-952723" y="-438656"/>
              <a:ext cx="11187526" cy="2291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6719"/>
                </a:lnSpc>
              </a:pPr>
              <a:r>
                <a:rPr lang="en-US" sz="6600" b="1" dirty="0">
                  <a:solidFill>
                    <a:srgbClr val="FFFFFF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Scale and Financial Potential</a:t>
              </a:r>
              <a:endParaRPr lang="en-US" sz="6399" b="1" dirty="0">
                <a:solidFill>
                  <a:srgbClr val="FFFFFF"/>
                </a:solidFill>
                <a:latin typeface="Touvlo Bold"/>
                <a:ea typeface="Touvlo Bold"/>
                <a:cs typeface="Touvlo Bold"/>
                <a:sym typeface="Touvlo Bold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-952723" y="2529852"/>
              <a:ext cx="13004801" cy="856379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66421" lvl="1" indent="-285750" algn="l">
                <a:lnSpc>
                  <a:spcPts val="3640"/>
                </a:lnSpc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rgbClr val="FFFFFF"/>
                  </a:solidFill>
                  <a:ea typeface="Touvlo Bold"/>
                  <a:cs typeface="Touvlo Bold"/>
                  <a:sym typeface="Touvlo Bold"/>
                </a:rPr>
                <a:t>High-Growth Pipeline: Immediate visibility on projects exceeding R2.5 billion in gross build value over the next 24 months.</a:t>
              </a:r>
            </a:p>
            <a:p>
              <a:pPr marL="566421" lvl="1" indent="-285750" algn="l">
                <a:lnSpc>
                  <a:spcPts val="3640"/>
                </a:lnSpc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rgbClr val="FFFFFF"/>
                  </a:solidFill>
                  <a:ea typeface="Touvlo Bold"/>
                  <a:cs typeface="Touvlo Bold"/>
                  <a:sym typeface="Touvlo Bold"/>
                </a:rPr>
                <a:t>Financial Model Highlights:</a:t>
              </a:r>
            </a:p>
            <a:p>
              <a:pPr marL="1023621" lvl="2" indent="-285750">
                <a:lnSpc>
                  <a:spcPts val="3640"/>
                </a:lnSpc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rgbClr val="FFFFFF"/>
                  </a:solidFill>
                  <a:ea typeface="Touvlo Bold"/>
                  <a:cs typeface="Touvlo Bold"/>
                  <a:sym typeface="Touvlo Bold"/>
                </a:rPr>
                <a:t>Forecast 5 082 activations to break even under conservative assumptions. </a:t>
              </a:r>
            </a:p>
            <a:p>
              <a:pPr marL="1023621" lvl="2" indent="-285750">
                <a:lnSpc>
                  <a:spcPts val="3640"/>
                </a:lnSpc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rgbClr val="FFFFFF"/>
                  </a:solidFill>
                  <a:ea typeface="Touvlo Bold"/>
                  <a:cs typeface="Touvlo Bold"/>
                  <a:sym typeface="Touvlo Bold"/>
                </a:rPr>
                <a:t>Expected gross profit margins of 40 % on </a:t>
              </a:r>
              <a:r>
                <a:rPr lang="en-US" b="1" dirty="0" err="1">
                  <a:solidFill>
                    <a:srgbClr val="FFFFFF"/>
                  </a:solidFill>
                  <a:ea typeface="Touvlo Bold"/>
                  <a:cs typeface="Touvlo Bold"/>
                  <a:sym typeface="Touvlo Bold"/>
                </a:rPr>
                <a:t>fibre</a:t>
              </a:r>
              <a:r>
                <a:rPr lang="en-US" b="1" dirty="0">
                  <a:solidFill>
                    <a:srgbClr val="FFFFFF"/>
                  </a:solidFill>
                  <a:ea typeface="Touvlo Bold"/>
                  <a:cs typeface="Touvlo Bold"/>
                  <a:sym typeface="Touvlo Bold"/>
                </a:rPr>
                <a:t> build contracts, with scalable expansion to 35 % under </a:t>
              </a:r>
              <a:r>
                <a:rPr lang="en-US" b="1" dirty="0" err="1">
                  <a:solidFill>
                    <a:srgbClr val="FFFFFF"/>
                  </a:solidFill>
                  <a:ea typeface="Touvlo Bold"/>
                  <a:cs typeface="Touvlo Bold"/>
                  <a:sym typeface="Touvlo Bold"/>
                </a:rPr>
                <a:t>optimised</a:t>
              </a:r>
              <a:r>
                <a:rPr lang="en-US" b="1" dirty="0">
                  <a:solidFill>
                    <a:srgbClr val="FFFFFF"/>
                  </a:solidFill>
                  <a:ea typeface="Touvlo Bold"/>
                  <a:cs typeface="Touvlo Bold"/>
                  <a:sym typeface="Touvlo Bold"/>
                </a:rPr>
                <a:t> supplier terms.  </a:t>
              </a:r>
            </a:p>
            <a:p>
              <a:pPr marL="1023621" lvl="2" indent="-285750">
                <a:lnSpc>
                  <a:spcPts val="3640"/>
                </a:lnSpc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rgbClr val="FFFFFF"/>
                  </a:solidFill>
                  <a:ea typeface="Touvlo Bold"/>
                  <a:cs typeface="Touvlo Bold"/>
                  <a:sym typeface="Touvlo Bold"/>
                </a:rPr>
                <a:t>Monthly optical activations: Target 500 new homes/month, ramping to 1 000 + by Q2 2026.</a:t>
              </a:r>
            </a:p>
            <a:p>
              <a:pPr marL="1023621" lvl="2" indent="-285750">
                <a:lnSpc>
                  <a:spcPts val="3640"/>
                </a:lnSpc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rgbClr val="FFFFFF"/>
                  </a:solidFill>
                  <a:ea typeface="Touvlo Bold"/>
                  <a:cs typeface="Touvlo Bold"/>
                  <a:sym typeface="Touvlo Bold"/>
                </a:rPr>
                <a:t>3 % financing cost coverage ensures sustainable cash-flow headroom.</a:t>
              </a:r>
            </a:p>
            <a:p>
              <a:pPr marL="566421" lvl="1" indent="-285750" algn="l">
                <a:lnSpc>
                  <a:spcPts val="3640"/>
                </a:lnSpc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rgbClr val="FFFFFF"/>
                  </a:solidFill>
                  <a:ea typeface="Touvlo Bold"/>
                  <a:cs typeface="Touvlo Bold"/>
                  <a:sym typeface="Touvlo Bold"/>
                </a:rPr>
                <a:t>Revenue Stability: Balanced Build-and-Transfer (CAPEX) and Maintenance (OPEX) models generate recurring and project-based income.</a:t>
              </a:r>
            </a:p>
            <a:p>
              <a:pPr marL="566421" lvl="1" indent="-285750" algn="l">
                <a:lnSpc>
                  <a:spcPts val="3640"/>
                </a:lnSpc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rgbClr val="FFFFFF"/>
                  </a:solidFill>
                  <a:ea typeface="Touvlo Bold"/>
                  <a:cs typeface="Touvlo Bold"/>
                  <a:sym typeface="Touvlo Bold"/>
                </a:rPr>
                <a:t>Long-Term Upside: National and pan-African expansion opportunities leveraging proven project frameworks.</a:t>
              </a:r>
              <a:br>
                <a:rPr lang="en-US" b="1" dirty="0">
                  <a:solidFill>
                    <a:srgbClr val="FFFFFF"/>
                  </a:solidFill>
                  <a:ea typeface="Touvlo Bold"/>
                  <a:cs typeface="Touvlo Bold"/>
                  <a:sym typeface="Touvlo Bold"/>
                </a:rPr>
              </a:br>
              <a:endParaRPr lang="en-US" b="1" dirty="0">
                <a:solidFill>
                  <a:srgbClr val="FFFFFF"/>
                </a:solidFill>
                <a:ea typeface="Touvlo Bold"/>
                <a:cs typeface="Touvlo Bold"/>
                <a:sym typeface="Touvlo Bold"/>
              </a:endParaRPr>
            </a:p>
            <a:p>
              <a:pPr marL="0" lvl="0" indent="0" algn="l">
                <a:lnSpc>
                  <a:spcPts val="3500"/>
                </a:lnSpc>
              </a:pPr>
              <a:endParaRPr lang="en-US" sz="2600" b="1" dirty="0">
                <a:solidFill>
                  <a:srgbClr val="FFFFFF"/>
                </a:solidFill>
                <a:latin typeface="Touvlo Bold"/>
                <a:ea typeface="Touvlo Bold"/>
                <a:cs typeface="Touvlo Bold"/>
                <a:sym typeface="Touvlo Bold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9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362292" y="0"/>
            <a:ext cx="7925708" cy="10287000"/>
            <a:chOff x="0" y="0"/>
            <a:chExt cx="2087429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87429" cy="2709333"/>
            </a:xfrm>
            <a:custGeom>
              <a:avLst/>
              <a:gdLst/>
              <a:ahLst/>
              <a:cxnLst/>
              <a:rect l="l" t="t" r="r" b="b"/>
              <a:pathLst>
                <a:path w="2087429" h="2709333">
                  <a:moveTo>
                    <a:pt x="97681" y="0"/>
                  </a:moveTo>
                  <a:lnTo>
                    <a:pt x="1989748" y="0"/>
                  </a:lnTo>
                  <a:cubicBezTo>
                    <a:pt x="2043696" y="0"/>
                    <a:pt x="2087429" y="43733"/>
                    <a:pt x="2087429" y="97681"/>
                  </a:cubicBezTo>
                  <a:lnTo>
                    <a:pt x="2087429" y="2611652"/>
                  </a:lnTo>
                  <a:cubicBezTo>
                    <a:pt x="2087429" y="2665600"/>
                    <a:pt x="2043696" y="2709333"/>
                    <a:pt x="1989748" y="2709333"/>
                  </a:cubicBezTo>
                  <a:lnTo>
                    <a:pt x="97681" y="2709333"/>
                  </a:lnTo>
                  <a:cubicBezTo>
                    <a:pt x="43733" y="2709333"/>
                    <a:pt x="0" y="2665600"/>
                    <a:pt x="0" y="2611652"/>
                  </a:cubicBezTo>
                  <a:lnTo>
                    <a:pt x="0" y="97681"/>
                  </a:lnTo>
                  <a:cubicBezTo>
                    <a:pt x="0" y="43733"/>
                    <a:pt x="43733" y="0"/>
                    <a:pt x="9768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087429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994801" y="917046"/>
            <a:ext cx="6660690" cy="8452908"/>
            <a:chOff x="0" y="0"/>
            <a:chExt cx="3505089" cy="4448217"/>
          </a:xfrm>
        </p:grpSpPr>
        <p:sp>
          <p:nvSpPr>
            <p:cNvPr id="6" name="Freeform 6"/>
            <p:cNvSpPr/>
            <p:nvPr/>
          </p:nvSpPr>
          <p:spPr>
            <a:xfrm>
              <a:off x="-22860" y="-5080"/>
              <a:ext cx="3539378" cy="4491396"/>
            </a:xfrm>
            <a:custGeom>
              <a:avLst/>
              <a:gdLst/>
              <a:ahLst/>
              <a:cxnLst/>
              <a:rect l="l" t="t" r="r" b="b"/>
              <a:pathLst>
                <a:path w="3539378" h="4491396">
                  <a:moveTo>
                    <a:pt x="1206775" y="2221454"/>
                  </a:moveTo>
                  <a:cubicBezTo>
                    <a:pt x="1206775" y="2042465"/>
                    <a:pt x="1207942" y="1863476"/>
                    <a:pt x="1206775" y="1684486"/>
                  </a:cubicBezTo>
                  <a:cubicBezTo>
                    <a:pt x="1205609" y="1336451"/>
                    <a:pt x="948997" y="1091170"/>
                    <a:pt x="581575" y="1082331"/>
                  </a:cubicBezTo>
                  <a:cubicBezTo>
                    <a:pt x="267808" y="1066862"/>
                    <a:pt x="26359" y="813847"/>
                    <a:pt x="42689" y="515531"/>
                  </a:cubicBezTo>
                  <a:cubicBezTo>
                    <a:pt x="57853" y="237103"/>
                    <a:pt x="295802" y="15024"/>
                    <a:pt x="589740" y="5080"/>
                  </a:cubicBezTo>
                  <a:cubicBezTo>
                    <a:pt x="898841" y="2540"/>
                    <a:pt x="1150787" y="238208"/>
                    <a:pt x="1158952" y="534314"/>
                  </a:cubicBezTo>
                  <a:cubicBezTo>
                    <a:pt x="1167117" y="879034"/>
                    <a:pt x="1417897" y="1117687"/>
                    <a:pt x="1781820" y="1128735"/>
                  </a:cubicBezTo>
                  <a:cubicBezTo>
                    <a:pt x="2103751" y="1138679"/>
                    <a:pt x="2341701" y="1369597"/>
                    <a:pt x="2342867" y="1675647"/>
                  </a:cubicBezTo>
                  <a:cubicBezTo>
                    <a:pt x="2344033" y="2036940"/>
                    <a:pt x="2342867" y="2399339"/>
                    <a:pt x="2342867" y="2760632"/>
                  </a:cubicBezTo>
                  <a:cubicBezTo>
                    <a:pt x="2342867" y="3121925"/>
                    <a:pt x="2595980" y="3364997"/>
                    <a:pt x="2973900" y="3377151"/>
                  </a:cubicBezTo>
                  <a:cubicBezTo>
                    <a:pt x="3287666" y="3380465"/>
                    <a:pt x="3539378" y="3624642"/>
                    <a:pt x="3535568" y="3921853"/>
                  </a:cubicBezTo>
                  <a:cubicBezTo>
                    <a:pt x="3531758" y="4219063"/>
                    <a:pt x="3273669" y="4457106"/>
                    <a:pt x="2959903" y="4453296"/>
                  </a:cubicBezTo>
                  <a:cubicBezTo>
                    <a:pt x="2650802" y="4453296"/>
                    <a:pt x="2401188" y="4217959"/>
                    <a:pt x="2393023" y="3920748"/>
                  </a:cubicBezTo>
                  <a:cubicBezTo>
                    <a:pt x="2384858" y="3581552"/>
                    <a:pt x="2128246" y="3337375"/>
                    <a:pt x="1772488" y="3328536"/>
                  </a:cubicBezTo>
                  <a:cubicBezTo>
                    <a:pt x="1450557" y="3321907"/>
                    <a:pt x="1210274" y="3090989"/>
                    <a:pt x="1207942" y="2784939"/>
                  </a:cubicBezTo>
                  <a:cubicBezTo>
                    <a:pt x="1205609" y="2597111"/>
                    <a:pt x="1207942" y="2409282"/>
                    <a:pt x="1206775" y="2221454"/>
                  </a:cubicBezTo>
                  <a:close/>
                  <a:moveTo>
                    <a:pt x="3529218" y="1667913"/>
                  </a:moveTo>
                  <a:lnTo>
                    <a:pt x="3529218" y="2773890"/>
                  </a:lnTo>
                  <a:cubicBezTo>
                    <a:pt x="3527948" y="3088779"/>
                    <a:pt x="3281834" y="3329641"/>
                    <a:pt x="2959903" y="3328536"/>
                  </a:cubicBezTo>
                  <a:cubicBezTo>
                    <a:pt x="2637971" y="3327431"/>
                    <a:pt x="2394189" y="3088779"/>
                    <a:pt x="2393023" y="2777205"/>
                  </a:cubicBezTo>
                  <a:cubicBezTo>
                    <a:pt x="2393023" y="2032521"/>
                    <a:pt x="2393023" y="1287837"/>
                    <a:pt x="2394189" y="544258"/>
                  </a:cubicBezTo>
                  <a:cubicBezTo>
                    <a:pt x="2391857" y="248152"/>
                    <a:pt x="2643803" y="5080"/>
                    <a:pt x="2956403" y="2540"/>
                  </a:cubicBezTo>
                  <a:cubicBezTo>
                    <a:pt x="3237510" y="0"/>
                    <a:pt x="3476626" y="192908"/>
                    <a:pt x="3520950" y="455868"/>
                  </a:cubicBezTo>
                  <a:cubicBezTo>
                    <a:pt x="3526782" y="491224"/>
                    <a:pt x="3529218" y="527685"/>
                    <a:pt x="3527948" y="563041"/>
                  </a:cubicBezTo>
                  <a:cubicBezTo>
                    <a:pt x="3529218" y="932068"/>
                    <a:pt x="3530489" y="1299990"/>
                    <a:pt x="3529218" y="1667913"/>
                  </a:cubicBezTo>
                  <a:close/>
                  <a:moveTo>
                    <a:pt x="593239" y="2250181"/>
                  </a:moveTo>
                  <a:cubicBezTo>
                    <a:pt x="904673" y="2253495"/>
                    <a:pt x="1151953" y="2488833"/>
                    <a:pt x="1158952" y="2790463"/>
                  </a:cubicBezTo>
                  <a:cubicBezTo>
                    <a:pt x="1164784" y="3061157"/>
                    <a:pt x="1339747" y="3282132"/>
                    <a:pt x="1611522" y="3353948"/>
                  </a:cubicBezTo>
                  <a:cubicBezTo>
                    <a:pt x="1669843" y="3368312"/>
                    <a:pt x="1729331" y="3374941"/>
                    <a:pt x="1789985" y="3376046"/>
                  </a:cubicBezTo>
                  <a:cubicBezTo>
                    <a:pt x="2089754" y="3388199"/>
                    <a:pt x="2330036" y="3609174"/>
                    <a:pt x="2342867" y="3887602"/>
                  </a:cubicBezTo>
                  <a:cubicBezTo>
                    <a:pt x="2358030" y="4172659"/>
                    <a:pt x="2135245" y="4419045"/>
                    <a:pt x="1835475" y="4449982"/>
                  </a:cubicBezTo>
                  <a:cubicBezTo>
                    <a:pt x="1504212" y="4491396"/>
                    <a:pt x="1218439" y="4244476"/>
                    <a:pt x="1207942" y="3915223"/>
                  </a:cubicBezTo>
                  <a:cubicBezTo>
                    <a:pt x="1198610" y="3668837"/>
                    <a:pt x="1080802" y="3486533"/>
                    <a:pt x="844019" y="3384885"/>
                  </a:cubicBezTo>
                  <a:cubicBezTo>
                    <a:pt x="764702" y="3349529"/>
                    <a:pt x="670222" y="3335165"/>
                    <a:pt x="581575" y="3330746"/>
                  </a:cubicBezTo>
                  <a:cubicBezTo>
                    <a:pt x="285304" y="3317488"/>
                    <a:pt x="47355" y="3108667"/>
                    <a:pt x="25193" y="2833553"/>
                  </a:cubicBezTo>
                  <a:cubicBezTo>
                    <a:pt x="0" y="2557335"/>
                    <a:pt x="203655" y="2308739"/>
                    <a:pt x="491760" y="2260125"/>
                  </a:cubicBezTo>
                  <a:cubicBezTo>
                    <a:pt x="525586" y="2254600"/>
                    <a:pt x="559413" y="2253495"/>
                    <a:pt x="593239" y="2250181"/>
                  </a:cubicBezTo>
                  <a:close/>
                  <a:moveTo>
                    <a:pt x="24026" y="1665703"/>
                  </a:moveTo>
                  <a:cubicBezTo>
                    <a:pt x="25193" y="1368493"/>
                    <a:pt x="279472" y="1127630"/>
                    <a:pt x="593239" y="1128735"/>
                  </a:cubicBezTo>
                  <a:cubicBezTo>
                    <a:pt x="907005" y="1129840"/>
                    <a:pt x="1161285" y="1370702"/>
                    <a:pt x="1160118" y="1667913"/>
                  </a:cubicBezTo>
                  <a:cubicBezTo>
                    <a:pt x="1158952" y="1965124"/>
                    <a:pt x="905839" y="2204881"/>
                    <a:pt x="592072" y="2204881"/>
                  </a:cubicBezTo>
                  <a:cubicBezTo>
                    <a:pt x="278306" y="2204881"/>
                    <a:pt x="24026" y="1964019"/>
                    <a:pt x="24026" y="1666808"/>
                  </a:cubicBezTo>
                  <a:cubicBezTo>
                    <a:pt x="24026" y="1666808"/>
                    <a:pt x="24026" y="1665703"/>
                    <a:pt x="24026" y="1665703"/>
                  </a:cubicBezTo>
                  <a:close/>
                  <a:moveTo>
                    <a:pt x="1775987" y="5080"/>
                  </a:moveTo>
                  <a:cubicBezTo>
                    <a:pt x="1461054" y="3810"/>
                    <a:pt x="1205609" y="243732"/>
                    <a:pt x="1204442" y="542048"/>
                  </a:cubicBezTo>
                  <a:cubicBezTo>
                    <a:pt x="1203276" y="840364"/>
                    <a:pt x="1456389" y="1082331"/>
                    <a:pt x="1771322" y="1083435"/>
                  </a:cubicBezTo>
                  <a:cubicBezTo>
                    <a:pt x="2086255" y="1084540"/>
                    <a:pt x="2341701" y="844783"/>
                    <a:pt x="2342867" y="546467"/>
                  </a:cubicBezTo>
                  <a:cubicBezTo>
                    <a:pt x="2342867" y="544258"/>
                    <a:pt x="2342867" y="543153"/>
                    <a:pt x="2342867" y="540943"/>
                  </a:cubicBezTo>
                  <a:cubicBezTo>
                    <a:pt x="2340534" y="245942"/>
                    <a:pt x="2087421" y="7290"/>
                    <a:pt x="1775987" y="5080"/>
                  </a:cubicBezTo>
                  <a:close/>
                  <a:moveTo>
                    <a:pt x="592072" y="3376046"/>
                  </a:moveTo>
                  <a:cubicBezTo>
                    <a:pt x="277139" y="3374941"/>
                    <a:pt x="21590" y="3614698"/>
                    <a:pt x="20320" y="3913014"/>
                  </a:cubicBezTo>
                  <a:cubicBezTo>
                    <a:pt x="19050" y="4211329"/>
                    <a:pt x="272474" y="4453296"/>
                    <a:pt x="587407" y="4454567"/>
                  </a:cubicBezTo>
                  <a:cubicBezTo>
                    <a:pt x="902340" y="4455837"/>
                    <a:pt x="1157785" y="4215749"/>
                    <a:pt x="1158952" y="3917433"/>
                  </a:cubicBezTo>
                  <a:cubicBezTo>
                    <a:pt x="1158952" y="3915223"/>
                    <a:pt x="1158952" y="3914119"/>
                    <a:pt x="1158952" y="3911909"/>
                  </a:cubicBezTo>
                  <a:cubicBezTo>
                    <a:pt x="1156619" y="3616908"/>
                    <a:pt x="903506" y="3378256"/>
                    <a:pt x="592072" y="3376046"/>
                  </a:cubicBezTo>
                  <a:close/>
                </a:path>
              </a:pathLst>
            </a:custGeom>
            <a:blipFill>
              <a:blip r:embed="rId2"/>
              <a:stretch>
                <a:fillRect l="-45159" r="-45159"/>
              </a:stretch>
            </a:blipFill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7" name="Freeform 7"/>
          <p:cNvSpPr/>
          <p:nvPr/>
        </p:nvSpPr>
        <p:spPr>
          <a:xfrm>
            <a:off x="11464220" y="8642383"/>
            <a:ext cx="1285596" cy="1231835"/>
          </a:xfrm>
          <a:custGeom>
            <a:avLst/>
            <a:gdLst/>
            <a:ahLst/>
            <a:cxnLst/>
            <a:rect l="l" t="t" r="r" b="b"/>
            <a:pathLst>
              <a:path w="1285596" h="1231835">
                <a:moveTo>
                  <a:pt x="0" y="0"/>
                </a:moveTo>
                <a:lnTo>
                  <a:pt x="1285596" y="0"/>
                </a:lnTo>
                <a:lnTo>
                  <a:pt x="1285596" y="1231834"/>
                </a:lnTo>
                <a:lnTo>
                  <a:pt x="0" y="12318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8" name="Freeform 8"/>
          <p:cNvSpPr/>
          <p:nvPr/>
        </p:nvSpPr>
        <p:spPr>
          <a:xfrm>
            <a:off x="15973704" y="348092"/>
            <a:ext cx="1285596" cy="1231835"/>
          </a:xfrm>
          <a:custGeom>
            <a:avLst/>
            <a:gdLst/>
            <a:ahLst/>
            <a:cxnLst/>
            <a:rect l="l" t="t" r="r" b="b"/>
            <a:pathLst>
              <a:path w="1285596" h="1231835">
                <a:moveTo>
                  <a:pt x="0" y="0"/>
                </a:moveTo>
                <a:lnTo>
                  <a:pt x="1285596" y="0"/>
                </a:lnTo>
                <a:lnTo>
                  <a:pt x="1285596" y="1231835"/>
                </a:lnTo>
                <a:lnTo>
                  <a:pt x="0" y="12318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9" name="TextBox 9"/>
          <p:cNvSpPr txBox="1"/>
          <p:nvPr/>
        </p:nvSpPr>
        <p:spPr>
          <a:xfrm>
            <a:off x="638087" y="1150322"/>
            <a:ext cx="8390644" cy="859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19"/>
              </a:lnSpc>
            </a:pPr>
            <a:r>
              <a:rPr lang="en-US" sz="6399" b="1" dirty="0">
                <a:solidFill>
                  <a:srgbClr val="FFFFFF"/>
                </a:solidFill>
                <a:latin typeface="Touvlo Bold"/>
                <a:ea typeface="Touvlo Bold"/>
                <a:cs typeface="Touvlo Bold"/>
                <a:sym typeface="Touvlo Bold"/>
              </a:rPr>
              <a:t>Execution Strength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6B4863-A559-6322-A4C2-23C99D6B9C24}"/>
              </a:ext>
            </a:extLst>
          </p:cNvPr>
          <p:cNvSpPr txBox="1"/>
          <p:nvPr/>
        </p:nvSpPr>
        <p:spPr>
          <a:xfrm>
            <a:off x="551512" y="2400300"/>
            <a:ext cx="91440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Track Record: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Over 30 million </a:t>
            </a:r>
            <a:r>
              <a:rPr lang="en-US" sz="2400" b="1" dirty="0" err="1">
                <a:solidFill>
                  <a:schemeClr val="bg1"/>
                </a:solidFill>
              </a:rPr>
              <a:t>metres</a:t>
            </a:r>
            <a:r>
              <a:rPr lang="en-US" sz="2400" b="1" dirty="0">
                <a:solidFill>
                  <a:schemeClr val="bg1"/>
                </a:solidFill>
              </a:rPr>
              <a:t> of </a:t>
            </a:r>
            <a:r>
              <a:rPr lang="en-US" sz="2400" b="1" dirty="0" err="1">
                <a:solidFill>
                  <a:schemeClr val="bg1"/>
                </a:solidFill>
              </a:rPr>
              <a:t>fibre</a:t>
            </a:r>
            <a:r>
              <a:rPr lang="en-US" sz="2400" b="1" dirty="0">
                <a:solidFill>
                  <a:schemeClr val="bg1"/>
                </a:solidFill>
              </a:rPr>
              <a:t> successfully installed and commissioned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Operational teams with nationwide coverage for mechanical and hand trenching, aerial </a:t>
            </a:r>
            <a:r>
              <a:rPr lang="en-US" sz="2400" b="1" dirty="0" err="1">
                <a:solidFill>
                  <a:schemeClr val="bg1"/>
                </a:solidFill>
              </a:rPr>
              <a:t>fibre</a:t>
            </a:r>
            <a:r>
              <a:rPr lang="en-US" sz="2400" b="1" dirty="0">
                <a:solidFill>
                  <a:schemeClr val="bg1"/>
                </a:solidFill>
              </a:rPr>
              <a:t> installation, and certified splicing/</a:t>
            </a:r>
            <a:r>
              <a:rPr lang="en-US" sz="2400" b="1" dirty="0" err="1">
                <a:solidFill>
                  <a:schemeClr val="bg1"/>
                </a:solidFill>
              </a:rPr>
              <a:t>testing.Project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Project Management Excellence: End-to-end oversight from planning through quality assurance, ensuring international compliance and timely delivery.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Supplier Ecosystem: 15–16 strategic supplier relationships under renegotiation to </a:t>
            </a:r>
            <a:r>
              <a:rPr lang="en-US" sz="2400" b="1" dirty="0" err="1">
                <a:solidFill>
                  <a:schemeClr val="bg1"/>
                </a:solidFill>
              </a:rPr>
              <a:t>optimise</a:t>
            </a:r>
            <a:r>
              <a:rPr lang="en-US" sz="2400" b="1" dirty="0">
                <a:solidFill>
                  <a:schemeClr val="bg1"/>
                </a:solidFill>
              </a:rPr>
              <a:t> cash cycles and reduce capex pressure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Quality &amp; Reliability: Established 24/7 maintenance operations and rapid-response field teams for last-mile customer connections.</a:t>
            </a:r>
            <a:endParaRPr lang="en-ZA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9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362292" y="0"/>
            <a:ext cx="7925708" cy="10287000"/>
            <a:chOff x="0" y="0"/>
            <a:chExt cx="2087429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87429" cy="2709333"/>
            </a:xfrm>
            <a:custGeom>
              <a:avLst/>
              <a:gdLst/>
              <a:ahLst/>
              <a:cxnLst/>
              <a:rect l="l" t="t" r="r" b="b"/>
              <a:pathLst>
                <a:path w="2087429" h="2709333">
                  <a:moveTo>
                    <a:pt x="97681" y="0"/>
                  </a:moveTo>
                  <a:lnTo>
                    <a:pt x="1989748" y="0"/>
                  </a:lnTo>
                  <a:cubicBezTo>
                    <a:pt x="2043696" y="0"/>
                    <a:pt x="2087429" y="43733"/>
                    <a:pt x="2087429" y="97681"/>
                  </a:cubicBezTo>
                  <a:lnTo>
                    <a:pt x="2087429" y="2611652"/>
                  </a:lnTo>
                  <a:cubicBezTo>
                    <a:pt x="2087429" y="2665600"/>
                    <a:pt x="2043696" y="2709333"/>
                    <a:pt x="1989748" y="2709333"/>
                  </a:cubicBezTo>
                  <a:lnTo>
                    <a:pt x="97681" y="2709333"/>
                  </a:lnTo>
                  <a:cubicBezTo>
                    <a:pt x="43733" y="2709333"/>
                    <a:pt x="0" y="2665600"/>
                    <a:pt x="0" y="2611652"/>
                  </a:cubicBezTo>
                  <a:lnTo>
                    <a:pt x="0" y="97681"/>
                  </a:lnTo>
                  <a:cubicBezTo>
                    <a:pt x="0" y="43733"/>
                    <a:pt x="43733" y="0"/>
                    <a:pt x="9768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087429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994801" y="917046"/>
            <a:ext cx="6660690" cy="8452908"/>
            <a:chOff x="0" y="0"/>
            <a:chExt cx="3505089" cy="4448217"/>
          </a:xfrm>
        </p:grpSpPr>
        <p:sp>
          <p:nvSpPr>
            <p:cNvPr id="6" name="Freeform 6"/>
            <p:cNvSpPr/>
            <p:nvPr/>
          </p:nvSpPr>
          <p:spPr>
            <a:xfrm>
              <a:off x="-22860" y="-5080"/>
              <a:ext cx="3539378" cy="4491396"/>
            </a:xfrm>
            <a:custGeom>
              <a:avLst/>
              <a:gdLst/>
              <a:ahLst/>
              <a:cxnLst/>
              <a:rect l="l" t="t" r="r" b="b"/>
              <a:pathLst>
                <a:path w="3539378" h="4491396">
                  <a:moveTo>
                    <a:pt x="1206775" y="2221454"/>
                  </a:moveTo>
                  <a:cubicBezTo>
                    <a:pt x="1206775" y="2042465"/>
                    <a:pt x="1207942" y="1863476"/>
                    <a:pt x="1206775" y="1684486"/>
                  </a:cubicBezTo>
                  <a:cubicBezTo>
                    <a:pt x="1205609" y="1336451"/>
                    <a:pt x="948997" y="1091170"/>
                    <a:pt x="581575" y="1082331"/>
                  </a:cubicBezTo>
                  <a:cubicBezTo>
                    <a:pt x="267808" y="1066862"/>
                    <a:pt x="26359" y="813847"/>
                    <a:pt x="42689" y="515531"/>
                  </a:cubicBezTo>
                  <a:cubicBezTo>
                    <a:pt x="57853" y="237103"/>
                    <a:pt x="295802" y="15024"/>
                    <a:pt x="589740" y="5080"/>
                  </a:cubicBezTo>
                  <a:cubicBezTo>
                    <a:pt x="898841" y="2540"/>
                    <a:pt x="1150787" y="238208"/>
                    <a:pt x="1158952" y="534314"/>
                  </a:cubicBezTo>
                  <a:cubicBezTo>
                    <a:pt x="1167117" y="879034"/>
                    <a:pt x="1417897" y="1117687"/>
                    <a:pt x="1781820" y="1128735"/>
                  </a:cubicBezTo>
                  <a:cubicBezTo>
                    <a:pt x="2103751" y="1138679"/>
                    <a:pt x="2341701" y="1369597"/>
                    <a:pt x="2342867" y="1675647"/>
                  </a:cubicBezTo>
                  <a:cubicBezTo>
                    <a:pt x="2344033" y="2036940"/>
                    <a:pt x="2342867" y="2399339"/>
                    <a:pt x="2342867" y="2760632"/>
                  </a:cubicBezTo>
                  <a:cubicBezTo>
                    <a:pt x="2342867" y="3121925"/>
                    <a:pt x="2595980" y="3364997"/>
                    <a:pt x="2973900" y="3377151"/>
                  </a:cubicBezTo>
                  <a:cubicBezTo>
                    <a:pt x="3287666" y="3380465"/>
                    <a:pt x="3539378" y="3624642"/>
                    <a:pt x="3535568" y="3921853"/>
                  </a:cubicBezTo>
                  <a:cubicBezTo>
                    <a:pt x="3531758" y="4219063"/>
                    <a:pt x="3273669" y="4457106"/>
                    <a:pt x="2959903" y="4453296"/>
                  </a:cubicBezTo>
                  <a:cubicBezTo>
                    <a:pt x="2650802" y="4453296"/>
                    <a:pt x="2401188" y="4217959"/>
                    <a:pt x="2393023" y="3920748"/>
                  </a:cubicBezTo>
                  <a:cubicBezTo>
                    <a:pt x="2384858" y="3581552"/>
                    <a:pt x="2128246" y="3337375"/>
                    <a:pt x="1772488" y="3328536"/>
                  </a:cubicBezTo>
                  <a:cubicBezTo>
                    <a:pt x="1450557" y="3321907"/>
                    <a:pt x="1210274" y="3090989"/>
                    <a:pt x="1207942" y="2784939"/>
                  </a:cubicBezTo>
                  <a:cubicBezTo>
                    <a:pt x="1205609" y="2597111"/>
                    <a:pt x="1207942" y="2409282"/>
                    <a:pt x="1206775" y="2221454"/>
                  </a:cubicBezTo>
                  <a:close/>
                  <a:moveTo>
                    <a:pt x="3529218" y="1667913"/>
                  </a:moveTo>
                  <a:lnTo>
                    <a:pt x="3529218" y="2773890"/>
                  </a:lnTo>
                  <a:cubicBezTo>
                    <a:pt x="3527948" y="3088779"/>
                    <a:pt x="3281834" y="3329641"/>
                    <a:pt x="2959903" y="3328536"/>
                  </a:cubicBezTo>
                  <a:cubicBezTo>
                    <a:pt x="2637971" y="3327431"/>
                    <a:pt x="2394189" y="3088779"/>
                    <a:pt x="2393023" y="2777205"/>
                  </a:cubicBezTo>
                  <a:cubicBezTo>
                    <a:pt x="2393023" y="2032521"/>
                    <a:pt x="2393023" y="1287837"/>
                    <a:pt x="2394189" y="544258"/>
                  </a:cubicBezTo>
                  <a:cubicBezTo>
                    <a:pt x="2391857" y="248152"/>
                    <a:pt x="2643803" y="5080"/>
                    <a:pt x="2956403" y="2540"/>
                  </a:cubicBezTo>
                  <a:cubicBezTo>
                    <a:pt x="3237510" y="0"/>
                    <a:pt x="3476626" y="192908"/>
                    <a:pt x="3520950" y="455868"/>
                  </a:cubicBezTo>
                  <a:cubicBezTo>
                    <a:pt x="3526782" y="491224"/>
                    <a:pt x="3529218" y="527685"/>
                    <a:pt x="3527948" y="563041"/>
                  </a:cubicBezTo>
                  <a:cubicBezTo>
                    <a:pt x="3529218" y="932068"/>
                    <a:pt x="3530489" y="1299990"/>
                    <a:pt x="3529218" y="1667913"/>
                  </a:cubicBezTo>
                  <a:close/>
                  <a:moveTo>
                    <a:pt x="593239" y="2250181"/>
                  </a:moveTo>
                  <a:cubicBezTo>
                    <a:pt x="904673" y="2253495"/>
                    <a:pt x="1151953" y="2488833"/>
                    <a:pt x="1158952" y="2790463"/>
                  </a:cubicBezTo>
                  <a:cubicBezTo>
                    <a:pt x="1164784" y="3061157"/>
                    <a:pt x="1339747" y="3282132"/>
                    <a:pt x="1611522" y="3353948"/>
                  </a:cubicBezTo>
                  <a:cubicBezTo>
                    <a:pt x="1669843" y="3368312"/>
                    <a:pt x="1729331" y="3374941"/>
                    <a:pt x="1789985" y="3376046"/>
                  </a:cubicBezTo>
                  <a:cubicBezTo>
                    <a:pt x="2089754" y="3388199"/>
                    <a:pt x="2330036" y="3609174"/>
                    <a:pt x="2342867" y="3887602"/>
                  </a:cubicBezTo>
                  <a:cubicBezTo>
                    <a:pt x="2358030" y="4172659"/>
                    <a:pt x="2135245" y="4419045"/>
                    <a:pt x="1835475" y="4449982"/>
                  </a:cubicBezTo>
                  <a:cubicBezTo>
                    <a:pt x="1504212" y="4491396"/>
                    <a:pt x="1218439" y="4244476"/>
                    <a:pt x="1207942" y="3915223"/>
                  </a:cubicBezTo>
                  <a:cubicBezTo>
                    <a:pt x="1198610" y="3668837"/>
                    <a:pt x="1080802" y="3486533"/>
                    <a:pt x="844019" y="3384885"/>
                  </a:cubicBezTo>
                  <a:cubicBezTo>
                    <a:pt x="764702" y="3349529"/>
                    <a:pt x="670222" y="3335165"/>
                    <a:pt x="581575" y="3330746"/>
                  </a:cubicBezTo>
                  <a:cubicBezTo>
                    <a:pt x="285304" y="3317488"/>
                    <a:pt x="47355" y="3108667"/>
                    <a:pt x="25193" y="2833553"/>
                  </a:cubicBezTo>
                  <a:cubicBezTo>
                    <a:pt x="0" y="2557335"/>
                    <a:pt x="203655" y="2308739"/>
                    <a:pt x="491760" y="2260125"/>
                  </a:cubicBezTo>
                  <a:cubicBezTo>
                    <a:pt x="525586" y="2254600"/>
                    <a:pt x="559413" y="2253495"/>
                    <a:pt x="593239" y="2250181"/>
                  </a:cubicBezTo>
                  <a:close/>
                  <a:moveTo>
                    <a:pt x="24026" y="1665703"/>
                  </a:moveTo>
                  <a:cubicBezTo>
                    <a:pt x="25193" y="1368493"/>
                    <a:pt x="279472" y="1127630"/>
                    <a:pt x="593239" y="1128735"/>
                  </a:cubicBezTo>
                  <a:cubicBezTo>
                    <a:pt x="907005" y="1129840"/>
                    <a:pt x="1161285" y="1370702"/>
                    <a:pt x="1160118" y="1667913"/>
                  </a:cubicBezTo>
                  <a:cubicBezTo>
                    <a:pt x="1158952" y="1965124"/>
                    <a:pt x="905839" y="2204881"/>
                    <a:pt x="592072" y="2204881"/>
                  </a:cubicBezTo>
                  <a:cubicBezTo>
                    <a:pt x="278306" y="2204881"/>
                    <a:pt x="24026" y="1964019"/>
                    <a:pt x="24026" y="1666808"/>
                  </a:cubicBezTo>
                  <a:cubicBezTo>
                    <a:pt x="24026" y="1666808"/>
                    <a:pt x="24026" y="1665703"/>
                    <a:pt x="24026" y="1665703"/>
                  </a:cubicBezTo>
                  <a:close/>
                  <a:moveTo>
                    <a:pt x="1775987" y="5080"/>
                  </a:moveTo>
                  <a:cubicBezTo>
                    <a:pt x="1461054" y="3810"/>
                    <a:pt x="1205609" y="243732"/>
                    <a:pt x="1204442" y="542048"/>
                  </a:cubicBezTo>
                  <a:cubicBezTo>
                    <a:pt x="1203276" y="840364"/>
                    <a:pt x="1456389" y="1082331"/>
                    <a:pt x="1771322" y="1083435"/>
                  </a:cubicBezTo>
                  <a:cubicBezTo>
                    <a:pt x="2086255" y="1084540"/>
                    <a:pt x="2341701" y="844783"/>
                    <a:pt x="2342867" y="546467"/>
                  </a:cubicBezTo>
                  <a:cubicBezTo>
                    <a:pt x="2342867" y="544258"/>
                    <a:pt x="2342867" y="543153"/>
                    <a:pt x="2342867" y="540943"/>
                  </a:cubicBezTo>
                  <a:cubicBezTo>
                    <a:pt x="2340534" y="245942"/>
                    <a:pt x="2087421" y="7290"/>
                    <a:pt x="1775987" y="5080"/>
                  </a:cubicBezTo>
                  <a:close/>
                  <a:moveTo>
                    <a:pt x="592072" y="3376046"/>
                  </a:moveTo>
                  <a:cubicBezTo>
                    <a:pt x="277139" y="3374941"/>
                    <a:pt x="21590" y="3614698"/>
                    <a:pt x="20320" y="3913014"/>
                  </a:cubicBezTo>
                  <a:cubicBezTo>
                    <a:pt x="19050" y="4211329"/>
                    <a:pt x="272474" y="4453296"/>
                    <a:pt x="587407" y="4454567"/>
                  </a:cubicBezTo>
                  <a:cubicBezTo>
                    <a:pt x="902340" y="4455837"/>
                    <a:pt x="1157785" y="4215749"/>
                    <a:pt x="1158952" y="3917433"/>
                  </a:cubicBezTo>
                  <a:cubicBezTo>
                    <a:pt x="1158952" y="3915223"/>
                    <a:pt x="1158952" y="3914119"/>
                    <a:pt x="1158952" y="3911909"/>
                  </a:cubicBezTo>
                  <a:cubicBezTo>
                    <a:pt x="1156619" y="3616908"/>
                    <a:pt x="903506" y="3378256"/>
                    <a:pt x="592072" y="3376046"/>
                  </a:cubicBezTo>
                  <a:close/>
                </a:path>
              </a:pathLst>
            </a:custGeom>
            <a:blipFill>
              <a:blip r:embed="rId2"/>
              <a:stretch>
                <a:fillRect l="-45159" r="-45159"/>
              </a:stretch>
            </a:blipFill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7" name="Freeform 7"/>
          <p:cNvSpPr/>
          <p:nvPr/>
        </p:nvSpPr>
        <p:spPr>
          <a:xfrm>
            <a:off x="11464220" y="8642383"/>
            <a:ext cx="1285596" cy="1231835"/>
          </a:xfrm>
          <a:custGeom>
            <a:avLst/>
            <a:gdLst/>
            <a:ahLst/>
            <a:cxnLst/>
            <a:rect l="l" t="t" r="r" b="b"/>
            <a:pathLst>
              <a:path w="1285596" h="1231835">
                <a:moveTo>
                  <a:pt x="0" y="0"/>
                </a:moveTo>
                <a:lnTo>
                  <a:pt x="1285596" y="0"/>
                </a:lnTo>
                <a:lnTo>
                  <a:pt x="1285596" y="1231834"/>
                </a:lnTo>
                <a:lnTo>
                  <a:pt x="0" y="12318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8" name="Freeform 8"/>
          <p:cNvSpPr/>
          <p:nvPr/>
        </p:nvSpPr>
        <p:spPr>
          <a:xfrm>
            <a:off x="15973704" y="348092"/>
            <a:ext cx="1285596" cy="1231835"/>
          </a:xfrm>
          <a:custGeom>
            <a:avLst/>
            <a:gdLst/>
            <a:ahLst/>
            <a:cxnLst/>
            <a:rect l="l" t="t" r="r" b="b"/>
            <a:pathLst>
              <a:path w="1285596" h="1231835">
                <a:moveTo>
                  <a:pt x="0" y="0"/>
                </a:moveTo>
                <a:lnTo>
                  <a:pt x="1285596" y="0"/>
                </a:lnTo>
                <a:lnTo>
                  <a:pt x="1285596" y="1231835"/>
                </a:lnTo>
                <a:lnTo>
                  <a:pt x="0" y="12318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9" name="TextBox 9"/>
          <p:cNvSpPr txBox="1"/>
          <p:nvPr/>
        </p:nvSpPr>
        <p:spPr>
          <a:xfrm>
            <a:off x="1028700" y="1269471"/>
            <a:ext cx="8390644" cy="1722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19"/>
              </a:lnSpc>
            </a:pPr>
            <a:r>
              <a:rPr lang="en-US" sz="6399" b="1" dirty="0">
                <a:solidFill>
                  <a:srgbClr val="FFFFFF"/>
                </a:solidFill>
                <a:latin typeface="Touvlo Bold"/>
                <a:ea typeface="Touvlo Bold"/>
                <a:cs typeface="Touvlo Bold"/>
                <a:sym typeface="Touvlo Bold"/>
              </a:rPr>
              <a:t>Competitive Advantages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3235171"/>
            <a:ext cx="8953500" cy="5957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23571" lvl="1" indent="-342900">
              <a:lnSpc>
                <a:spcPts val="364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FF"/>
                </a:solidFill>
                <a:ea typeface="Touvlo Bold"/>
                <a:cs typeface="Touvlo Bold"/>
                <a:sym typeface="Touvlo Bold"/>
              </a:rPr>
              <a:t>Turnkey Delivery Partner: Proven capability to execute FTTH, FTTB, and MDU networks at scale, from design to handover.</a:t>
            </a:r>
          </a:p>
          <a:p>
            <a:pPr marL="623571" lvl="1" indent="-342900">
              <a:lnSpc>
                <a:spcPts val="364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FF"/>
                </a:solidFill>
                <a:ea typeface="Touvlo Bold"/>
                <a:cs typeface="Touvlo Bold"/>
                <a:sym typeface="Touvlo Bold"/>
              </a:rPr>
              <a:t>Operational Efficiency: Integrated real-time financial tracking tied to activation data for agile rollout control</a:t>
            </a:r>
          </a:p>
          <a:p>
            <a:pPr marL="623571" lvl="1" indent="-342900">
              <a:lnSpc>
                <a:spcPts val="364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FF"/>
                </a:solidFill>
                <a:ea typeface="Touvlo Bold"/>
                <a:cs typeface="Touvlo Bold"/>
                <a:sym typeface="Touvlo Bold"/>
              </a:rPr>
              <a:t>Community-Focused Model: Prioritizes local employment, training, and socio-economic development in every deployment zone.</a:t>
            </a:r>
          </a:p>
          <a:p>
            <a:pPr marL="623571" lvl="1" indent="-342900">
              <a:lnSpc>
                <a:spcPts val="364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FF"/>
                </a:solidFill>
                <a:ea typeface="Touvlo Bold"/>
                <a:cs typeface="Touvlo Bold"/>
                <a:sym typeface="Touvlo Bold"/>
              </a:rPr>
              <a:t>Strategic Relationships: Active engagement with major FNOs, municipalities, and infrastructure investors for expansion and joint-venture opportunities.</a:t>
            </a:r>
          </a:p>
          <a:p>
            <a:pPr marL="623571" lvl="1" indent="-342900">
              <a:lnSpc>
                <a:spcPts val="364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FF"/>
                </a:solidFill>
                <a:ea typeface="Touvlo Bold"/>
                <a:cs typeface="Touvlo Bold"/>
                <a:sym typeface="Touvlo Bold"/>
              </a:rPr>
              <a:t>Strong Leadership: Management team with decades of combined experience in telecom infrastructure (Blitz </a:t>
            </a:r>
            <a:r>
              <a:rPr lang="en-US" sz="2400" b="1" dirty="0" err="1">
                <a:solidFill>
                  <a:srgbClr val="FFFFFF"/>
                </a:solidFill>
                <a:ea typeface="Touvlo Bold"/>
                <a:cs typeface="Touvlo Bold"/>
                <a:sym typeface="Touvlo Bold"/>
              </a:rPr>
              <a:t>Fibre</a:t>
            </a:r>
            <a:r>
              <a:rPr lang="en-US" sz="2400" b="1" dirty="0">
                <a:solidFill>
                  <a:srgbClr val="FFFFFF"/>
                </a:solidFill>
                <a:ea typeface="Touvlo Bold"/>
                <a:cs typeface="Touvlo Bold"/>
                <a:sym typeface="Touvlo Bold"/>
              </a:rPr>
              <a:t>, Frogfoot, ZTE)</a:t>
            </a:r>
          </a:p>
          <a:p>
            <a:pPr marL="0" lvl="0" indent="0" algn="l">
              <a:lnSpc>
                <a:spcPts val="3500"/>
              </a:lnSpc>
            </a:pPr>
            <a:endParaRPr lang="en-US" sz="2400" b="1" dirty="0">
              <a:solidFill>
                <a:srgbClr val="FFFFFF"/>
              </a:solidFill>
              <a:ea typeface="Touvlo Bold"/>
              <a:cs typeface="Touvlo Bold"/>
              <a:sym typeface="Touvlo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9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362292" y="0"/>
            <a:ext cx="7925708" cy="10287000"/>
            <a:chOff x="0" y="0"/>
            <a:chExt cx="2087429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87429" cy="2709333"/>
            </a:xfrm>
            <a:custGeom>
              <a:avLst/>
              <a:gdLst/>
              <a:ahLst/>
              <a:cxnLst/>
              <a:rect l="l" t="t" r="r" b="b"/>
              <a:pathLst>
                <a:path w="2087429" h="2709333">
                  <a:moveTo>
                    <a:pt x="97681" y="0"/>
                  </a:moveTo>
                  <a:lnTo>
                    <a:pt x="1989748" y="0"/>
                  </a:lnTo>
                  <a:cubicBezTo>
                    <a:pt x="2043696" y="0"/>
                    <a:pt x="2087429" y="43733"/>
                    <a:pt x="2087429" y="97681"/>
                  </a:cubicBezTo>
                  <a:lnTo>
                    <a:pt x="2087429" y="2611652"/>
                  </a:lnTo>
                  <a:cubicBezTo>
                    <a:pt x="2087429" y="2665600"/>
                    <a:pt x="2043696" y="2709333"/>
                    <a:pt x="1989748" y="2709333"/>
                  </a:cubicBezTo>
                  <a:lnTo>
                    <a:pt x="97681" y="2709333"/>
                  </a:lnTo>
                  <a:cubicBezTo>
                    <a:pt x="43733" y="2709333"/>
                    <a:pt x="0" y="2665600"/>
                    <a:pt x="0" y="2611652"/>
                  </a:cubicBezTo>
                  <a:lnTo>
                    <a:pt x="0" y="97681"/>
                  </a:lnTo>
                  <a:cubicBezTo>
                    <a:pt x="0" y="43733"/>
                    <a:pt x="43733" y="0"/>
                    <a:pt x="9768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087429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994801" y="917046"/>
            <a:ext cx="6660690" cy="8452908"/>
            <a:chOff x="0" y="0"/>
            <a:chExt cx="3505089" cy="4448217"/>
          </a:xfrm>
        </p:grpSpPr>
        <p:sp>
          <p:nvSpPr>
            <p:cNvPr id="6" name="Freeform 6"/>
            <p:cNvSpPr/>
            <p:nvPr/>
          </p:nvSpPr>
          <p:spPr>
            <a:xfrm>
              <a:off x="-22860" y="-5080"/>
              <a:ext cx="3539378" cy="4491396"/>
            </a:xfrm>
            <a:custGeom>
              <a:avLst/>
              <a:gdLst/>
              <a:ahLst/>
              <a:cxnLst/>
              <a:rect l="l" t="t" r="r" b="b"/>
              <a:pathLst>
                <a:path w="3539378" h="4491396">
                  <a:moveTo>
                    <a:pt x="1206775" y="2221454"/>
                  </a:moveTo>
                  <a:cubicBezTo>
                    <a:pt x="1206775" y="2042465"/>
                    <a:pt x="1207942" y="1863476"/>
                    <a:pt x="1206775" y="1684486"/>
                  </a:cubicBezTo>
                  <a:cubicBezTo>
                    <a:pt x="1205609" y="1336451"/>
                    <a:pt x="948997" y="1091170"/>
                    <a:pt x="581575" y="1082331"/>
                  </a:cubicBezTo>
                  <a:cubicBezTo>
                    <a:pt x="267808" y="1066862"/>
                    <a:pt x="26359" y="813847"/>
                    <a:pt x="42689" y="515531"/>
                  </a:cubicBezTo>
                  <a:cubicBezTo>
                    <a:pt x="57853" y="237103"/>
                    <a:pt x="295802" y="15024"/>
                    <a:pt x="589740" y="5080"/>
                  </a:cubicBezTo>
                  <a:cubicBezTo>
                    <a:pt x="898841" y="2540"/>
                    <a:pt x="1150787" y="238208"/>
                    <a:pt x="1158952" y="534314"/>
                  </a:cubicBezTo>
                  <a:cubicBezTo>
                    <a:pt x="1167117" y="879034"/>
                    <a:pt x="1417897" y="1117687"/>
                    <a:pt x="1781820" y="1128735"/>
                  </a:cubicBezTo>
                  <a:cubicBezTo>
                    <a:pt x="2103751" y="1138679"/>
                    <a:pt x="2341701" y="1369597"/>
                    <a:pt x="2342867" y="1675647"/>
                  </a:cubicBezTo>
                  <a:cubicBezTo>
                    <a:pt x="2344033" y="2036940"/>
                    <a:pt x="2342867" y="2399339"/>
                    <a:pt x="2342867" y="2760632"/>
                  </a:cubicBezTo>
                  <a:cubicBezTo>
                    <a:pt x="2342867" y="3121925"/>
                    <a:pt x="2595980" y="3364997"/>
                    <a:pt x="2973900" y="3377151"/>
                  </a:cubicBezTo>
                  <a:cubicBezTo>
                    <a:pt x="3287666" y="3380465"/>
                    <a:pt x="3539378" y="3624642"/>
                    <a:pt x="3535568" y="3921853"/>
                  </a:cubicBezTo>
                  <a:cubicBezTo>
                    <a:pt x="3531758" y="4219063"/>
                    <a:pt x="3273669" y="4457106"/>
                    <a:pt x="2959903" y="4453296"/>
                  </a:cubicBezTo>
                  <a:cubicBezTo>
                    <a:pt x="2650802" y="4453296"/>
                    <a:pt x="2401188" y="4217959"/>
                    <a:pt x="2393023" y="3920748"/>
                  </a:cubicBezTo>
                  <a:cubicBezTo>
                    <a:pt x="2384858" y="3581552"/>
                    <a:pt x="2128246" y="3337375"/>
                    <a:pt x="1772488" y="3328536"/>
                  </a:cubicBezTo>
                  <a:cubicBezTo>
                    <a:pt x="1450557" y="3321907"/>
                    <a:pt x="1210274" y="3090989"/>
                    <a:pt x="1207942" y="2784939"/>
                  </a:cubicBezTo>
                  <a:cubicBezTo>
                    <a:pt x="1205609" y="2597111"/>
                    <a:pt x="1207942" y="2409282"/>
                    <a:pt x="1206775" y="2221454"/>
                  </a:cubicBezTo>
                  <a:close/>
                  <a:moveTo>
                    <a:pt x="3529218" y="1667913"/>
                  </a:moveTo>
                  <a:lnTo>
                    <a:pt x="3529218" y="2773890"/>
                  </a:lnTo>
                  <a:cubicBezTo>
                    <a:pt x="3527948" y="3088779"/>
                    <a:pt x="3281834" y="3329641"/>
                    <a:pt x="2959903" y="3328536"/>
                  </a:cubicBezTo>
                  <a:cubicBezTo>
                    <a:pt x="2637971" y="3327431"/>
                    <a:pt x="2394189" y="3088779"/>
                    <a:pt x="2393023" y="2777205"/>
                  </a:cubicBezTo>
                  <a:cubicBezTo>
                    <a:pt x="2393023" y="2032521"/>
                    <a:pt x="2393023" y="1287837"/>
                    <a:pt x="2394189" y="544258"/>
                  </a:cubicBezTo>
                  <a:cubicBezTo>
                    <a:pt x="2391857" y="248152"/>
                    <a:pt x="2643803" y="5080"/>
                    <a:pt x="2956403" y="2540"/>
                  </a:cubicBezTo>
                  <a:cubicBezTo>
                    <a:pt x="3237510" y="0"/>
                    <a:pt x="3476626" y="192908"/>
                    <a:pt x="3520950" y="455868"/>
                  </a:cubicBezTo>
                  <a:cubicBezTo>
                    <a:pt x="3526782" y="491224"/>
                    <a:pt x="3529218" y="527685"/>
                    <a:pt x="3527948" y="563041"/>
                  </a:cubicBezTo>
                  <a:cubicBezTo>
                    <a:pt x="3529218" y="932068"/>
                    <a:pt x="3530489" y="1299990"/>
                    <a:pt x="3529218" y="1667913"/>
                  </a:cubicBezTo>
                  <a:close/>
                  <a:moveTo>
                    <a:pt x="593239" y="2250181"/>
                  </a:moveTo>
                  <a:cubicBezTo>
                    <a:pt x="904673" y="2253495"/>
                    <a:pt x="1151953" y="2488833"/>
                    <a:pt x="1158952" y="2790463"/>
                  </a:cubicBezTo>
                  <a:cubicBezTo>
                    <a:pt x="1164784" y="3061157"/>
                    <a:pt x="1339747" y="3282132"/>
                    <a:pt x="1611522" y="3353948"/>
                  </a:cubicBezTo>
                  <a:cubicBezTo>
                    <a:pt x="1669843" y="3368312"/>
                    <a:pt x="1729331" y="3374941"/>
                    <a:pt x="1789985" y="3376046"/>
                  </a:cubicBezTo>
                  <a:cubicBezTo>
                    <a:pt x="2089754" y="3388199"/>
                    <a:pt x="2330036" y="3609174"/>
                    <a:pt x="2342867" y="3887602"/>
                  </a:cubicBezTo>
                  <a:cubicBezTo>
                    <a:pt x="2358030" y="4172659"/>
                    <a:pt x="2135245" y="4419045"/>
                    <a:pt x="1835475" y="4449982"/>
                  </a:cubicBezTo>
                  <a:cubicBezTo>
                    <a:pt x="1504212" y="4491396"/>
                    <a:pt x="1218439" y="4244476"/>
                    <a:pt x="1207942" y="3915223"/>
                  </a:cubicBezTo>
                  <a:cubicBezTo>
                    <a:pt x="1198610" y="3668837"/>
                    <a:pt x="1080802" y="3486533"/>
                    <a:pt x="844019" y="3384885"/>
                  </a:cubicBezTo>
                  <a:cubicBezTo>
                    <a:pt x="764702" y="3349529"/>
                    <a:pt x="670222" y="3335165"/>
                    <a:pt x="581575" y="3330746"/>
                  </a:cubicBezTo>
                  <a:cubicBezTo>
                    <a:pt x="285304" y="3317488"/>
                    <a:pt x="47355" y="3108667"/>
                    <a:pt x="25193" y="2833553"/>
                  </a:cubicBezTo>
                  <a:cubicBezTo>
                    <a:pt x="0" y="2557335"/>
                    <a:pt x="203655" y="2308739"/>
                    <a:pt x="491760" y="2260125"/>
                  </a:cubicBezTo>
                  <a:cubicBezTo>
                    <a:pt x="525586" y="2254600"/>
                    <a:pt x="559413" y="2253495"/>
                    <a:pt x="593239" y="2250181"/>
                  </a:cubicBezTo>
                  <a:close/>
                  <a:moveTo>
                    <a:pt x="24026" y="1665703"/>
                  </a:moveTo>
                  <a:cubicBezTo>
                    <a:pt x="25193" y="1368493"/>
                    <a:pt x="279472" y="1127630"/>
                    <a:pt x="593239" y="1128735"/>
                  </a:cubicBezTo>
                  <a:cubicBezTo>
                    <a:pt x="907005" y="1129840"/>
                    <a:pt x="1161285" y="1370702"/>
                    <a:pt x="1160118" y="1667913"/>
                  </a:cubicBezTo>
                  <a:cubicBezTo>
                    <a:pt x="1158952" y="1965124"/>
                    <a:pt x="905839" y="2204881"/>
                    <a:pt x="592072" y="2204881"/>
                  </a:cubicBezTo>
                  <a:cubicBezTo>
                    <a:pt x="278306" y="2204881"/>
                    <a:pt x="24026" y="1964019"/>
                    <a:pt x="24026" y="1666808"/>
                  </a:cubicBezTo>
                  <a:cubicBezTo>
                    <a:pt x="24026" y="1666808"/>
                    <a:pt x="24026" y="1665703"/>
                    <a:pt x="24026" y="1665703"/>
                  </a:cubicBezTo>
                  <a:close/>
                  <a:moveTo>
                    <a:pt x="1775987" y="5080"/>
                  </a:moveTo>
                  <a:cubicBezTo>
                    <a:pt x="1461054" y="3810"/>
                    <a:pt x="1205609" y="243732"/>
                    <a:pt x="1204442" y="542048"/>
                  </a:cubicBezTo>
                  <a:cubicBezTo>
                    <a:pt x="1203276" y="840364"/>
                    <a:pt x="1456389" y="1082331"/>
                    <a:pt x="1771322" y="1083435"/>
                  </a:cubicBezTo>
                  <a:cubicBezTo>
                    <a:pt x="2086255" y="1084540"/>
                    <a:pt x="2341701" y="844783"/>
                    <a:pt x="2342867" y="546467"/>
                  </a:cubicBezTo>
                  <a:cubicBezTo>
                    <a:pt x="2342867" y="544258"/>
                    <a:pt x="2342867" y="543153"/>
                    <a:pt x="2342867" y="540943"/>
                  </a:cubicBezTo>
                  <a:cubicBezTo>
                    <a:pt x="2340534" y="245942"/>
                    <a:pt x="2087421" y="7290"/>
                    <a:pt x="1775987" y="5080"/>
                  </a:cubicBezTo>
                  <a:close/>
                  <a:moveTo>
                    <a:pt x="592072" y="3376046"/>
                  </a:moveTo>
                  <a:cubicBezTo>
                    <a:pt x="277139" y="3374941"/>
                    <a:pt x="21590" y="3614698"/>
                    <a:pt x="20320" y="3913014"/>
                  </a:cubicBezTo>
                  <a:cubicBezTo>
                    <a:pt x="19050" y="4211329"/>
                    <a:pt x="272474" y="4453296"/>
                    <a:pt x="587407" y="4454567"/>
                  </a:cubicBezTo>
                  <a:cubicBezTo>
                    <a:pt x="902340" y="4455837"/>
                    <a:pt x="1157785" y="4215749"/>
                    <a:pt x="1158952" y="3917433"/>
                  </a:cubicBezTo>
                  <a:cubicBezTo>
                    <a:pt x="1158952" y="3915223"/>
                    <a:pt x="1158952" y="3914119"/>
                    <a:pt x="1158952" y="3911909"/>
                  </a:cubicBezTo>
                  <a:cubicBezTo>
                    <a:pt x="1156619" y="3616908"/>
                    <a:pt x="903506" y="3378256"/>
                    <a:pt x="592072" y="3376046"/>
                  </a:cubicBezTo>
                  <a:close/>
                </a:path>
              </a:pathLst>
            </a:custGeom>
            <a:blipFill>
              <a:blip r:embed="rId2"/>
              <a:stretch>
                <a:fillRect l="-45159" r="-45159"/>
              </a:stretch>
            </a:blipFill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7" name="Freeform 7"/>
          <p:cNvSpPr/>
          <p:nvPr/>
        </p:nvSpPr>
        <p:spPr>
          <a:xfrm>
            <a:off x="11464220" y="8642383"/>
            <a:ext cx="1285596" cy="1231835"/>
          </a:xfrm>
          <a:custGeom>
            <a:avLst/>
            <a:gdLst/>
            <a:ahLst/>
            <a:cxnLst/>
            <a:rect l="l" t="t" r="r" b="b"/>
            <a:pathLst>
              <a:path w="1285596" h="1231835">
                <a:moveTo>
                  <a:pt x="0" y="0"/>
                </a:moveTo>
                <a:lnTo>
                  <a:pt x="1285596" y="0"/>
                </a:lnTo>
                <a:lnTo>
                  <a:pt x="1285596" y="1231834"/>
                </a:lnTo>
                <a:lnTo>
                  <a:pt x="0" y="12318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8" name="Freeform 8"/>
          <p:cNvSpPr/>
          <p:nvPr/>
        </p:nvSpPr>
        <p:spPr>
          <a:xfrm>
            <a:off x="15973704" y="348092"/>
            <a:ext cx="1285596" cy="1231835"/>
          </a:xfrm>
          <a:custGeom>
            <a:avLst/>
            <a:gdLst/>
            <a:ahLst/>
            <a:cxnLst/>
            <a:rect l="l" t="t" r="r" b="b"/>
            <a:pathLst>
              <a:path w="1285596" h="1231835">
                <a:moveTo>
                  <a:pt x="0" y="0"/>
                </a:moveTo>
                <a:lnTo>
                  <a:pt x="1285596" y="0"/>
                </a:lnTo>
                <a:lnTo>
                  <a:pt x="1285596" y="1231835"/>
                </a:lnTo>
                <a:lnTo>
                  <a:pt x="0" y="12318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9" name="TextBox 9"/>
          <p:cNvSpPr txBox="1"/>
          <p:nvPr/>
        </p:nvSpPr>
        <p:spPr>
          <a:xfrm>
            <a:off x="1028700" y="1269471"/>
            <a:ext cx="8390644" cy="1722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19"/>
              </a:lnSpc>
            </a:pPr>
            <a:r>
              <a:rPr lang="en-US" sz="6399" b="1" dirty="0">
                <a:solidFill>
                  <a:srgbClr val="FFFFFF"/>
                </a:solidFill>
                <a:latin typeface="Touvlo Bold"/>
                <a:ea typeface="Touvlo Bold"/>
                <a:cs typeface="Touvlo Bold"/>
                <a:sym typeface="Touvlo Bold"/>
              </a:rPr>
              <a:t>Investment Opportunity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92972E-6A41-70E8-E0B7-195E28D75642}"/>
              </a:ext>
            </a:extLst>
          </p:cNvPr>
          <p:cNvSpPr txBox="1"/>
          <p:nvPr/>
        </p:nvSpPr>
        <p:spPr>
          <a:xfrm>
            <a:off x="997993" y="3314700"/>
            <a:ext cx="9144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Capital Requirement:</a:t>
            </a:r>
            <a:r>
              <a:rPr lang="en-US" sz="2400" dirty="0">
                <a:solidFill>
                  <a:schemeClr val="bg1"/>
                </a:solidFill>
              </a:rPr>
              <a:t> Strategic equity or convertible instrument to scale rollout capacity and working-capital lines for 250 000 + home connections.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Investor Value Proposition: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Early entry into a high-margin, recession-resilient infrastructure asset class.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Direct participation in Africa’s broadband acceleration phase.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Clear path to </a:t>
            </a:r>
            <a:r>
              <a:rPr lang="en-US" sz="2400" b="1" dirty="0">
                <a:solidFill>
                  <a:schemeClr val="bg1"/>
                </a:solidFill>
              </a:rPr>
              <a:t>10 × valuation growth</a:t>
            </a:r>
            <a:r>
              <a:rPr lang="en-US" sz="2400" dirty="0">
                <a:solidFill>
                  <a:schemeClr val="bg1"/>
                </a:solidFill>
              </a:rPr>
              <a:t> within 3–5 years based on contracted demand and projected activations.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Exit Potential:</a:t>
            </a:r>
            <a:r>
              <a:rPr lang="en-US" sz="2400" dirty="0">
                <a:solidFill>
                  <a:schemeClr val="bg1"/>
                </a:solidFill>
              </a:rPr>
              <a:t> Institutional acquisition or FNO buy-out at mature deployment stage, underpinned by secured long-term maintenance contracts.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9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362292" y="0"/>
            <a:ext cx="7925708" cy="10287000"/>
            <a:chOff x="0" y="0"/>
            <a:chExt cx="2087429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87429" cy="2709333"/>
            </a:xfrm>
            <a:custGeom>
              <a:avLst/>
              <a:gdLst/>
              <a:ahLst/>
              <a:cxnLst/>
              <a:rect l="l" t="t" r="r" b="b"/>
              <a:pathLst>
                <a:path w="2087429" h="2709333">
                  <a:moveTo>
                    <a:pt x="97681" y="0"/>
                  </a:moveTo>
                  <a:lnTo>
                    <a:pt x="1989748" y="0"/>
                  </a:lnTo>
                  <a:cubicBezTo>
                    <a:pt x="2043696" y="0"/>
                    <a:pt x="2087429" y="43733"/>
                    <a:pt x="2087429" y="97681"/>
                  </a:cubicBezTo>
                  <a:lnTo>
                    <a:pt x="2087429" y="2611652"/>
                  </a:lnTo>
                  <a:cubicBezTo>
                    <a:pt x="2087429" y="2665600"/>
                    <a:pt x="2043696" y="2709333"/>
                    <a:pt x="1989748" y="2709333"/>
                  </a:cubicBezTo>
                  <a:lnTo>
                    <a:pt x="97681" y="2709333"/>
                  </a:lnTo>
                  <a:cubicBezTo>
                    <a:pt x="43733" y="2709333"/>
                    <a:pt x="0" y="2665600"/>
                    <a:pt x="0" y="2611652"/>
                  </a:cubicBezTo>
                  <a:lnTo>
                    <a:pt x="0" y="97681"/>
                  </a:lnTo>
                  <a:cubicBezTo>
                    <a:pt x="0" y="43733"/>
                    <a:pt x="43733" y="0"/>
                    <a:pt x="9768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087429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994801" y="917046"/>
            <a:ext cx="6660690" cy="8452908"/>
            <a:chOff x="0" y="0"/>
            <a:chExt cx="3505089" cy="4448217"/>
          </a:xfrm>
        </p:grpSpPr>
        <p:sp>
          <p:nvSpPr>
            <p:cNvPr id="6" name="Freeform 6"/>
            <p:cNvSpPr/>
            <p:nvPr/>
          </p:nvSpPr>
          <p:spPr>
            <a:xfrm>
              <a:off x="-22860" y="-5080"/>
              <a:ext cx="3539378" cy="4491396"/>
            </a:xfrm>
            <a:custGeom>
              <a:avLst/>
              <a:gdLst/>
              <a:ahLst/>
              <a:cxnLst/>
              <a:rect l="l" t="t" r="r" b="b"/>
              <a:pathLst>
                <a:path w="3539378" h="4491396">
                  <a:moveTo>
                    <a:pt x="1206775" y="2221454"/>
                  </a:moveTo>
                  <a:cubicBezTo>
                    <a:pt x="1206775" y="2042465"/>
                    <a:pt x="1207942" y="1863476"/>
                    <a:pt x="1206775" y="1684486"/>
                  </a:cubicBezTo>
                  <a:cubicBezTo>
                    <a:pt x="1205609" y="1336451"/>
                    <a:pt x="948997" y="1091170"/>
                    <a:pt x="581575" y="1082331"/>
                  </a:cubicBezTo>
                  <a:cubicBezTo>
                    <a:pt x="267808" y="1066862"/>
                    <a:pt x="26359" y="813847"/>
                    <a:pt x="42689" y="515531"/>
                  </a:cubicBezTo>
                  <a:cubicBezTo>
                    <a:pt x="57853" y="237103"/>
                    <a:pt x="295802" y="15024"/>
                    <a:pt x="589740" y="5080"/>
                  </a:cubicBezTo>
                  <a:cubicBezTo>
                    <a:pt x="898841" y="2540"/>
                    <a:pt x="1150787" y="238208"/>
                    <a:pt x="1158952" y="534314"/>
                  </a:cubicBezTo>
                  <a:cubicBezTo>
                    <a:pt x="1167117" y="879034"/>
                    <a:pt x="1417897" y="1117687"/>
                    <a:pt x="1781820" y="1128735"/>
                  </a:cubicBezTo>
                  <a:cubicBezTo>
                    <a:pt x="2103751" y="1138679"/>
                    <a:pt x="2341701" y="1369597"/>
                    <a:pt x="2342867" y="1675647"/>
                  </a:cubicBezTo>
                  <a:cubicBezTo>
                    <a:pt x="2344033" y="2036940"/>
                    <a:pt x="2342867" y="2399339"/>
                    <a:pt x="2342867" y="2760632"/>
                  </a:cubicBezTo>
                  <a:cubicBezTo>
                    <a:pt x="2342867" y="3121925"/>
                    <a:pt x="2595980" y="3364997"/>
                    <a:pt x="2973900" y="3377151"/>
                  </a:cubicBezTo>
                  <a:cubicBezTo>
                    <a:pt x="3287666" y="3380465"/>
                    <a:pt x="3539378" y="3624642"/>
                    <a:pt x="3535568" y="3921853"/>
                  </a:cubicBezTo>
                  <a:cubicBezTo>
                    <a:pt x="3531758" y="4219063"/>
                    <a:pt x="3273669" y="4457106"/>
                    <a:pt x="2959903" y="4453296"/>
                  </a:cubicBezTo>
                  <a:cubicBezTo>
                    <a:pt x="2650802" y="4453296"/>
                    <a:pt x="2401188" y="4217959"/>
                    <a:pt x="2393023" y="3920748"/>
                  </a:cubicBezTo>
                  <a:cubicBezTo>
                    <a:pt x="2384858" y="3581552"/>
                    <a:pt x="2128246" y="3337375"/>
                    <a:pt x="1772488" y="3328536"/>
                  </a:cubicBezTo>
                  <a:cubicBezTo>
                    <a:pt x="1450557" y="3321907"/>
                    <a:pt x="1210274" y="3090989"/>
                    <a:pt x="1207942" y="2784939"/>
                  </a:cubicBezTo>
                  <a:cubicBezTo>
                    <a:pt x="1205609" y="2597111"/>
                    <a:pt x="1207942" y="2409282"/>
                    <a:pt x="1206775" y="2221454"/>
                  </a:cubicBezTo>
                  <a:close/>
                  <a:moveTo>
                    <a:pt x="3529218" y="1667913"/>
                  </a:moveTo>
                  <a:lnTo>
                    <a:pt x="3529218" y="2773890"/>
                  </a:lnTo>
                  <a:cubicBezTo>
                    <a:pt x="3527948" y="3088779"/>
                    <a:pt x="3281834" y="3329641"/>
                    <a:pt x="2959903" y="3328536"/>
                  </a:cubicBezTo>
                  <a:cubicBezTo>
                    <a:pt x="2637971" y="3327431"/>
                    <a:pt x="2394189" y="3088779"/>
                    <a:pt x="2393023" y="2777205"/>
                  </a:cubicBezTo>
                  <a:cubicBezTo>
                    <a:pt x="2393023" y="2032521"/>
                    <a:pt x="2393023" y="1287837"/>
                    <a:pt x="2394189" y="544258"/>
                  </a:cubicBezTo>
                  <a:cubicBezTo>
                    <a:pt x="2391857" y="248152"/>
                    <a:pt x="2643803" y="5080"/>
                    <a:pt x="2956403" y="2540"/>
                  </a:cubicBezTo>
                  <a:cubicBezTo>
                    <a:pt x="3237510" y="0"/>
                    <a:pt x="3476626" y="192908"/>
                    <a:pt x="3520950" y="455868"/>
                  </a:cubicBezTo>
                  <a:cubicBezTo>
                    <a:pt x="3526782" y="491224"/>
                    <a:pt x="3529218" y="527685"/>
                    <a:pt x="3527948" y="563041"/>
                  </a:cubicBezTo>
                  <a:cubicBezTo>
                    <a:pt x="3529218" y="932068"/>
                    <a:pt x="3530489" y="1299990"/>
                    <a:pt x="3529218" y="1667913"/>
                  </a:cubicBezTo>
                  <a:close/>
                  <a:moveTo>
                    <a:pt x="593239" y="2250181"/>
                  </a:moveTo>
                  <a:cubicBezTo>
                    <a:pt x="904673" y="2253495"/>
                    <a:pt x="1151953" y="2488833"/>
                    <a:pt x="1158952" y="2790463"/>
                  </a:cubicBezTo>
                  <a:cubicBezTo>
                    <a:pt x="1164784" y="3061157"/>
                    <a:pt x="1339747" y="3282132"/>
                    <a:pt x="1611522" y="3353948"/>
                  </a:cubicBezTo>
                  <a:cubicBezTo>
                    <a:pt x="1669843" y="3368312"/>
                    <a:pt x="1729331" y="3374941"/>
                    <a:pt x="1789985" y="3376046"/>
                  </a:cubicBezTo>
                  <a:cubicBezTo>
                    <a:pt x="2089754" y="3388199"/>
                    <a:pt x="2330036" y="3609174"/>
                    <a:pt x="2342867" y="3887602"/>
                  </a:cubicBezTo>
                  <a:cubicBezTo>
                    <a:pt x="2358030" y="4172659"/>
                    <a:pt x="2135245" y="4419045"/>
                    <a:pt x="1835475" y="4449982"/>
                  </a:cubicBezTo>
                  <a:cubicBezTo>
                    <a:pt x="1504212" y="4491396"/>
                    <a:pt x="1218439" y="4244476"/>
                    <a:pt x="1207942" y="3915223"/>
                  </a:cubicBezTo>
                  <a:cubicBezTo>
                    <a:pt x="1198610" y="3668837"/>
                    <a:pt x="1080802" y="3486533"/>
                    <a:pt x="844019" y="3384885"/>
                  </a:cubicBezTo>
                  <a:cubicBezTo>
                    <a:pt x="764702" y="3349529"/>
                    <a:pt x="670222" y="3335165"/>
                    <a:pt x="581575" y="3330746"/>
                  </a:cubicBezTo>
                  <a:cubicBezTo>
                    <a:pt x="285304" y="3317488"/>
                    <a:pt x="47355" y="3108667"/>
                    <a:pt x="25193" y="2833553"/>
                  </a:cubicBezTo>
                  <a:cubicBezTo>
                    <a:pt x="0" y="2557335"/>
                    <a:pt x="203655" y="2308739"/>
                    <a:pt x="491760" y="2260125"/>
                  </a:cubicBezTo>
                  <a:cubicBezTo>
                    <a:pt x="525586" y="2254600"/>
                    <a:pt x="559413" y="2253495"/>
                    <a:pt x="593239" y="2250181"/>
                  </a:cubicBezTo>
                  <a:close/>
                  <a:moveTo>
                    <a:pt x="24026" y="1665703"/>
                  </a:moveTo>
                  <a:cubicBezTo>
                    <a:pt x="25193" y="1368493"/>
                    <a:pt x="279472" y="1127630"/>
                    <a:pt x="593239" y="1128735"/>
                  </a:cubicBezTo>
                  <a:cubicBezTo>
                    <a:pt x="907005" y="1129840"/>
                    <a:pt x="1161285" y="1370702"/>
                    <a:pt x="1160118" y="1667913"/>
                  </a:cubicBezTo>
                  <a:cubicBezTo>
                    <a:pt x="1158952" y="1965124"/>
                    <a:pt x="905839" y="2204881"/>
                    <a:pt x="592072" y="2204881"/>
                  </a:cubicBezTo>
                  <a:cubicBezTo>
                    <a:pt x="278306" y="2204881"/>
                    <a:pt x="24026" y="1964019"/>
                    <a:pt x="24026" y="1666808"/>
                  </a:cubicBezTo>
                  <a:cubicBezTo>
                    <a:pt x="24026" y="1666808"/>
                    <a:pt x="24026" y="1665703"/>
                    <a:pt x="24026" y="1665703"/>
                  </a:cubicBezTo>
                  <a:close/>
                  <a:moveTo>
                    <a:pt x="1775987" y="5080"/>
                  </a:moveTo>
                  <a:cubicBezTo>
                    <a:pt x="1461054" y="3810"/>
                    <a:pt x="1205609" y="243732"/>
                    <a:pt x="1204442" y="542048"/>
                  </a:cubicBezTo>
                  <a:cubicBezTo>
                    <a:pt x="1203276" y="840364"/>
                    <a:pt x="1456389" y="1082331"/>
                    <a:pt x="1771322" y="1083435"/>
                  </a:cubicBezTo>
                  <a:cubicBezTo>
                    <a:pt x="2086255" y="1084540"/>
                    <a:pt x="2341701" y="844783"/>
                    <a:pt x="2342867" y="546467"/>
                  </a:cubicBezTo>
                  <a:cubicBezTo>
                    <a:pt x="2342867" y="544258"/>
                    <a:pt x="2342867" y="543153"/>
                    <a:pt x="2342867" y="540943"/>
                  </a:cubicBezTo>
                  <a:cubicBezTo>
                    <a:pt x="2340534" y="245942"/>
                    <a:pt x="2087421" y="7290"/>
                    <a:pt x="1775987" y="5080"/>
                  </a:cubicBezTo>
                  <a:close/>
                  <a:moveTo>
                    <a:pt x="592072" y="3376046"/>
                  </a:moveTo>
                  <a:cubicBezTo>
                    <a:pt x="277139" y="3374941"/>
                    <a:pt x="21590" y="3614698"/>
                    <a:pt x="20320" y="3913014"/>
                  </a:cubicBezTo>
                  <a:cubicBezTo>
                    <a:pt x="19050" y="4211329"/>
                    <a:pt x="272474" y="4453296"/>
                    <a:pt x="587407" y="4454567"/>
                  </a:cubicBezTo>
                  <a:cubicBezTo>
                    <a:pt x="902340" y="4455837"/>
                    <a:pt x="1157785" y="4215749"/>
                    <a:pt x="1158952" y="3917433"/>
                  </a:cubicBezTo>
                  <a:cubicBezTo>
                    <a:pt x="1158952" y="3915223"/>
                    <a:pt x="1158952" y="3914119"/>
                    <a:pt x="1158952" y="3911909"/>
                  </a:cubicBezTo>
                  <a:cubicBezTo>
                    <a:pt x="1156619" y="3616908"/>
                    <a:pt x="903506" y="3378256"/>
                    <a:pt x="592072" y="3376046"/>
                  </a:cubicBezTo>
                  <a:close/>
                </a:path>
              </a:pathLst>
            </a:custGeom>
            <a:blipFill>
              <a:blip r:embed="rId2"/>
              <a:stretch>
                <a:fillRect l="-44194" r="-44194"/>
              </a:stretch>
            </a:blipFill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7" name="Freeform 7"/>
          <p:cNvSpPr/>
          <p:nvPr/>
        </p:nvSpPr>
        <p:spPr>
          <a:xfrm>
            <a:off x="11464220" y="8642383"/>
            <a:ext cx="1285596" cy="1231835"/>
          </a:xfrm>
          <a:custGeom>
            <a:avLst/>
            <a:gdLst/>
            <a:ahLst/>
            <a:cxnLst/>
            <a:rect l="l" t="t" r="r" b="b"/>
            <a:pathLst>
              <a:path w="1285596" h="1231835">
                <a:moveTo>
                  <a:pt x="0" y="0"/>
                </a:moveTo>
                <a:lnTo>
                  <a:pt x="1285596" y="0"/>
                </a:lnTo>
                <a:lnTo>
                  <a:pt x="1285596" y="1231834"/>
                </a:lnTo>
                <a:lnTo>
                  <a:pt x="0" y="12318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8" name="Freeform 8"/>
          <p:cNvSpPr/>
          <p:nvPr/>
        </p:nvSpPr>
        <p:spPr>
          <a:xfrm>
            <a:off x="15973704" y="348092"/>
            <a:ext cx="1285596" cy="1231835"/>
          </a:xfrm>
          <a:custGeom>
            <a:avLst/>
            <a:gdLst/>
            <a:ahLst/>
            <a:cxnLst/>
            <a:rect l="l" t="t" r="r" b="b"/>
            <a:pathLst>
              <a:path w="1285596" h="1231835">
                <a:moveTo>
                  <a:pt x="0" y="0"/>
                </a:moveTo>
                <a:lnTo>
                  <a:pt x="1285596" y="0"/>
                </a:lnTo>
                <a:lnTo>
                  <a:pt x="1285596" y="1231835"/>
                </a:lnTo>
                <a:lnTo>
                  <a:pt x="0" y="12318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9" name="TextBox 9"/>
          <p:cNvSpPr txBox="1"/>
          <p:nvPr/>
        </p:nvSpPr>
        <p:spPr>
          <a:xfrm>
            <a:off x="1028700" y="1269471"/>
            <a:ext cx="8683169" cy="1722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19"/>
              </a:lnSpc>
            </a:pPr>
            <a:r>
              <a:rPr lang="en-US" sz="6399" b="1" dirty="0">
                <a:solidFill>
                  <a:srgbClr val="FFFFFF"/>
                </a:solidFill>
                <a:latin typeface="Touvlo Bold"/>
                <a:ea typeface="Touvlo Bold"/>
                <a:cs typeface="Touvlo Bold"/>
                <a:sym typeface="Touvlo Bold"/>
              </a:rPr>
              <a:t>Key Metrics at a Glance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A4BFCFE-EF1A-A3BC-D28A-8BCA08DBDC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2758467"/>
              </p:ext>
            </p:extLst>
          </p:nvPr>
        </p:nvGraphicFramePr>
        <p:xfrm>
          <a:off x="1013915" y="3902974"/>
          <a:ext cx="8229600" cy="329184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4110187956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2454756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b="1" dirty="0">
                          <a:solidFill>
                            <a:schemeClr val="tx1"/>
                          </a:solidFill>
                        </a:rPr>
                        <a:t>Metric</a:t>
                      </a:r>
                      <a:endParaRPr lang="en-ZA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b="1">
                          <a:solidFill>
                            <a:schemeClr val="tx1"/>
                          </a:solidFill>
                        </a:rPr>
                        <a:t>Value / Target</a:t>
                      </a:r>
                      <a:endParaRPr lang="en-ZA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5994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dirty="0">
                          <a:solidFill>
                            <a:schemeClr val="tx1"/>
                          </a:solidFill>
                        </a:rPr>
                        <a:t>Active FNO Clients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>
                          <a:solidFill>
                            <a:schemeClr val="tx1"/>
                          </a:solidFill>
                        </a:rPr>
                        <a:t>2 (Tier-1 National Operators)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8772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dirty="0">
                          <a:solidFill>
                            <a:schemeClr val="tx1"/>
                          </a:solidFill>
                        </a:rPr>
                        <a:t>Purchase Orders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>
                          <a:solidFill>
                            <a:schemeClr val="tx1"/>
                          </a:solidFill>
                        </a:rPr>
                        <a:t>250 000 Homes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83954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dirty="0">
                          <a:solidFill>
                            <a:schemeClr val="tx1"/>
                          </a:solidFill>
                        </a:rPr>
                        <a:t>Gross Profit Margin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dirty="0">
                          <a:solidFill>
                            <a:schemeClr val="tx1"/>
                          </a:solidFill>
                        </a:rPr>
                        <a:t>40% +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16631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>
                          <a:solidFill>
                            <a:schemeClr val="tx1"/>
                          </a:solidFill>
                        </a:rPr>
                        <a:t>Current Activation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dirty="0">
                          <a:solidFill>
                            <a:schemeClr val="tx1"/>
                          </a:solidFill>
                        </a:rPr>
                        <a:t>800 / month /project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9837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dirty="0">
                          <a:solidFill>
                            <a:schemeClr val="tx1"/>
                          </a:solidFill>
                        </a:rPr>
                        <a:t>Fibre Installed to Date as a team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>
                          <a:solidFill>
                            <a:schemeClr val="tx1"/>
                          </a:solidFill>
                        </a:rPr>
                        <a:t>30 Million Metres +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4848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>
                          <a:solidFill>
                            <a:schemeClr val="tx1"/>
                          </a:solidFill>
                        </a:rPr>
                        <a:t>Supplier 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>
                          <a:solidFill>
                            <a:schemeClr val="tx1"/>
                          </a:solidFill>
                        </a:rPr>
                        <a:t>15–16 Key Partners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4552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>
                          <a:solidFill>
                            <a:schemeClr val="tx1"/>
                          </a:solidFill>
                        </a:rPr>
                        <a:t>Monthly OPEX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dirty="0">
                          <a:solidFill>
                            <a:schemeClr val="tx1"/>
                          </a:solidFill>
                        </a:rPr>
                        <a:t>Stable, flatline growth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73970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>
                          <a:solidFill>
                            <a:schemeClr val="tx1"/>
                          </a:solidFill>
                        </a:rPr>
                        <a:t>EBITDA Target 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dirty="0">
                          <a:solidFill>
                            <a:schemeClr val="tx1"/>
                          </a:solidFill>
                        </a:rPr>
                        <a:t>± 200 Million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5972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9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620817"/>
            <a:ext cx="18288000" cy="4405640"/>
            <a:chOff x="0" y="0"/>
            <a:chExt cx="5629534" cy="1160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629534" cy="1160333"/>
            </a:xfrm>
            <a:custGeom>
              <a:avLst/>
              <a:gdLst/>
              <a:ahLst/>
              <a:cxnLst/>
              <a:rect l="l" t="t" r="r" b="b"/>
              <a:pathLst>
                <a:path w="5629534" h="1160333">
                  <a:moveTo>
                    <a:pt x="36220" y="0"/>
                  </a:moveTo>
                  <a:lnTo>
                    <a:pt x="5593313" y="0"/>
                  </a:lnTo>
                  <a:cubicBezTo>
                    <a:pt x="5613317" y="0"/>
                    <a:pt x="5629534" y="16216"/>
                    <a:pt x="5629534" y="36220"/>
                  </a:cubicBezTo>
                  <a:lnTo>
                    <a:pt x="5629534" y="1124113"/>
                  </a:lnTo>
                  <a:cubicBezTo>
                    <a:pt x="5629534" y="1144117"/>
                    <a:pt x="5613317" y="1160333"/>
                    <a:pt x="5593313" y="1160333"/>
                  </a:cubicBezTo>
                  <a:lnTo>
                    <a:pt x="36220" y="1160333"/>
                  </a:lnTo>
                  <a:cubicBezTo>
                    <a:pt x="16216" y="1160333"/>
                    <a:pt x="0" y="1144117"/>
                    <a:pt x="0" y="1124113"/>
                  </a:cubicBezTo>
                  <a:lnTo>
                    <a:pt x="0" y="36220"/>
                  </a:lnTo>
                  <a:cubicBezTo>
                    <a:pt x="0" y="16216"/>
                    <a:pt x="16216" y="0"/>
                    <a:pt x="3622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629534" cy="1198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6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351755" y="3049435"/>
            <a:ext cx="4974928" cy="3527128"/>
            <a:chOff x="0" y="0"/>
            <a:chExt cx="5275391" cy="3740150"/>
          </a:xfrm>
        </p:grpSpPr>
        <p:sp>
          <p:nvSpPr>
            <p:cNvPr id="6" name="Freeform 6"/>
            <p:cNvSpPr/>
            <p:nvPr/>
          </p:nvSpPr>
          <p:spPr>
            <a:xfrm>
              <a:off x="-1270" y="-38100"/>
              <a:ext cx="5277930" cy="3785870"/>
            </a:xfrm>
            <a:custGeom>
              <a:avLst/>
              <a:gdLst/>
              <a:ahLst/>
              <a:cxnLst/>
              <a:rect l="l" t="t" r="r" b="b"/>
              <a:pathLst>
                <a:path w="5277930" h="3785870">
                  <a:moveTo>
                    <a:pt x="8077" y="1253490"/>
                  </a:moveTo>
                  <a:cubicBezTo>
                    <a:pt x="8077" y="1050290"/>
                    <a:pt x="6716" y="847090"/>
                    <a:pt x="8077" y="643890"/>
                  </a:cubicBezTo>
                  <a:cubicBezTo>
                    <a:pt x="8077" y="337820"/>
                    <a:pt x="231345" y="88900"/>
                    <a:pt x="543104" y="44450"/>
                  </a:cubicBezTo>
                  <a:cubicBezTo>
                    <a:pt x="854862" y="0"/>
                    <a:pt x="1154368" y="176530"/>
                    <a:pt x="1248304" y="471170"/>
                  </a:cubicBezTo>
                  <a:cubicBezTo>
                    <a:pt x="1264641" y="524510"/>
                    <a:pt x="1271448" y="579120"/>
                    <a:pt x="1271448" y="633730"/>
                  </a:cubicBezTo>
                  <a:cubicBezTo>
                    <a:pt x="1274171" y="1043940"/>
                    <a:pt x="1275532" y="1454150"/>
                    <a:pt x="1272809" y="1865630"/>
                  </a:cubicBezTo>
                  <a:cubicBezTo>
                    <a:pt x="1270086" y="2146300"/>
                    <a:pt x="1078130" y="2378710"/>
                    <a:pt x="803129" y="2442210"/>
                  </a:cubicBezTo>
                  <a:cubicBezTo>
                    <a:pt x="528128" y="2505710"/>
                    <a:pt x="223177" y="2400300"/>
                    <a:pt x="89760" y="2159000"/>
                  </a:cubicBezTo>
                  <a:cubicBezTo>
                    <a:pt x="43473" y="2070100"/>
                    <a:pt x="16245" y="1973580"/>
                    <a:pt x="10800" y="1874520"/>
                  </a:cubicBezTo>
                  <a:cubicBezTo>
                    <a:pt x="0" y="1668780"/>
                    <a:pt x="8077" y="1460500"/>
                    <a:pt x="8077" y="1253490"/>
                  </a:cubicBezTo>
                  <a:close/>
                  <a:moveTo>
                    <a:pt x="1340879" y="624840"/>
                  </a:moveTo>
                  <a:cubicBezTo>
                    <a:pt x="1343602" y="295910"/>
                    <a:pt x="1628132" y="36830"/>
                    <a:pt x="1983456" y="39370"/>
                  </a:cubicBezTo>
                  <a:cubicBezTo>
                    <a:pt x="2338778" y="41910"/>
                    <a:pt x="2609695" y="309880"/>
                    <a:pt x="2606973" y="629920"/>
                  </a:cubicBezTo>
                  <a:cubicBezTo>
                    <a:pt x="2605611" y="956310"/>
                    <a:pt x="2321081" y="1219200"/>
                    <a:pt x="1971203" y="1217930"/>
                  </a:cubicBezTo>
                  <a:cubicBezTo>
                    <a:pt x="1621325" y="1216660"/>
                    <a:pt x="1339517" y="951230"/>
                    <a:pt x="1340879" y="624840"/>
                  </a:cubicBezTo>
                  <a:close/>
                  <a:moveTo>
                    <a:pt x="5057476" y="1880870"/>
                  </a:moveTo>
                  <a:cubicBezTo>
                    <a:pt x="4877773" y="1695450"/>
                    <a:pt x="4650421" y="1634490"/>
                    <a:pt x="4391756" y="1706880"/>
                  </a:cubicBezTo>
                  <a:cubicBezTo>
                    <a:pt x="4153513" y="1772920"/>
                    <a:pt x="4017374" y="1934210"/>
                    <a:pt x="3952027" y="2152650"/>
                  </a:cubicBezTo>
                  <a:cubicBezTo>
                    <a:pt x="3907101" y="2302510"/>
                    <a:pt x="3800912" y="2443480"/>
                    <a:pt x="3633461" y="2501900"/>
                  </a:cubicBezTo>
                  <a:cubicBezTo>
                    <a:pt x="3536802" y="2533650"/>
                    <a:pt x="3434698" y="2550160"/>
                    <a:pt x="3332594" y="2551430"/>
                  </a:cubicBezTo>
                  <a:lnTo>
                    <a:pt x="3078014" y="2553970"/>
                  </a:lnTo>
                  <a:lnTo>
                    <a:pt x="649292" y="2553970"/>
                  </a:lnTo>
                  <a:cubicBezTo>
                    <a:pt x="292608" y="2553970"/>
                    <a:pt x="2631" y="2824480"/>
                    <a:pt x="1270" y="3157220"/>
                  </a:cubicBezTo>
                  <a:lnTo>
                    <a:pt x="1270" y="3161030"/>
                  </a:lnTo>
                  <a:cubicBezTo>
                    <a:pt x="1270" y="3495040"/>
                    <a:pt x="291246" y="3765550"/>
                    <a:pt x="649292" y="3765550"/>
                  </a:cubicBezTo>
                  <a:lnTo>
                    <a:pt x="2643730" y="3765550"/>
                  </a:lnTo>
                  <a:cubicBezTo>
                    <a:pt x="2905117" y="3776980"/>
                    <a:pt x="3152890" y="3785870"/>
                    <a:pt x="3361183" y="3765550"/>
                  </a:cubicBezTo>
                  <a:lnTo>
                    <a:pt x="3397941" y="3765550"/>
                  </a:lnTo>
                  <a:cubicBezTo>
                    <a:pt x="3713784" y="3765550"/>
                    <a:pt x="4017374" y="3554730"/>
                    <a:pt x="4074552" y="3275330"/>
                  </a:cubicBezTo>
                  <a:cubicBezTo>
                    <a:pt x="4109948" y="3145790"/>
                    <a:pt x="4135815" y="2994660"/>
                    <a:pt x="4330494" y="2921000"/>
                  </a:cubicBezTo>
                  <a:cubicBezTo>
                    <a:pt x="4414900" y="2887980"/>
                    <a:pt x="4512920" y="2881630"/>
                    <a:pt x="4605495" y="2874010"/>
                  </a:cubicBezTo>
                  <a:cubicBezTo>
                    <a:pt x="4872327" y="2851150"/>
                    <a:pt x="5068368" y="2729230"/>
                    <a:pt x="5173195" y="2500630"/>
                  </a:cubicBezTo>
                  <a:cubicBezTo>
                    <a:pt x="5277930" y="2272030"/>
                    <a:pt x="5234457" y="2061210"/>
                    <a:pt x="5057476" y="1880870"/>
                  </a:cubicBezTo>
                  <a:close/>
                  <a:moveTo>
                    <a:pt x="2675042" y="1870710"/>
                  </a:moveTo>
                  <a:cubicBezTo>
                    <a:pt x="2676403" y="1541780"/>
                    <a:pt x="2962296" y="1282700"/>
                    <a:pt x="3317619" y="1285240"/>
                  </a:cubicBezTo>
                  <a:cubicBezTo>
                    <a:pt x="3672942" y="1287780"/>
                    <a:pt x="3942497" y="1555750"/>
                    <a:pt x="3939774" y="1875790"/>
                  </a:cubicBezTo>
                  <a:cubicBezTo>
                    <a:pt x="3954750" y="2202180"/>
                    <a:pt x="3682471" y="2476500"/>
                    <a:pt x="3333955" y="2490470"/>
                  </a:cubicBezTo>
                  <a:cubicBezTo>
                    <a:pt x="2984078" y="2504440"/>
                    <a:pt x="2690018" y="2250440"/>
                    <a:pt x="2675042" y="1925320"/>
                  </a:cubicBezTo>
                  <a:cubicBezTo>
                    <a:pt x="2673681" y="1907540"/>
                    <a:pt x="2673681" y="1888490"/>
                    <a:pt x="2675042" y="1870710"/>
                  </a:cubicBezTo>
                  <a:close/>
                  <a:moveTo>
                    <a:pt x="4702153" y="39370"/>
                  </a:moveTo>
                  <a:lnTo>
                    <a:pt x="4628638" y="39370"/>
                  </a:lnTo>
                  <a:cubicBezTo>
                    <a:pt x="4197077" y="38100"/>
                    <a:pt x="3766877" y="39370"/>
                    <a:pt x="3335317" y="39370"/>
                  </a:cubicBezTo>
                  <a:cubicBezTo>
                    <a:pt x="2954127" y="39370"/>
                    <a:pt x="2691379" y="276860"/>
                    <a:pt x="2672319" y="632460"/>
                  </a:cubicBezTo>
                  <a:cubicBezTo>
                    <a:pt x="2666874" y="716280"/>
                    <a:pt x="2653260" y="803910"/>
                    <a:pt x="2617863" y="878840"/>
                  </a:cubicBezTo>
                  <a:cubicBezTo>
                    <a:pt x="2493977" y="1143000"/>
                    <a:pt x="2269348" y="1276350"/>
                    <a:pt x="1960312" y="1282700"/>
                  </a:cubicBezTo>
                  <a:cubicBezTo>
                    <a:pt x="1519221" y="1291590"/>
                    <a:pt x="1215631" y="1719580"/>
                    <a:pt x="1385805" y="2094230"/>
                  </a:cubicBezTo>
                  <a:cubicBezTo>
                    <a:pt x="1504246" y="2354580"/>
                    <a:pt x="1792861" y="2504440"/>
                    <a:pt x="2078753" y="2456180"/>
                  </a:cubicBezTo>
                  <a:cubicBezTo>
                    <a:pt x="2387789" y="2402840"/>
                    <a:pt x="2597443" y="2169160"/>
                    <a:pt x="2606973" y="1869440"/>
                  </a:cubicBezTo>
                  <a:cubicBezTo>
                    <a:pt x="2619225" y="1497330"/>
                    <a:pt x="2914647" y="1223010"/>
                    <a:pt x="3312173" y="1219200"/>
                  </a:cubicBezTo>
                  <a:cubicBezTo>
                    <a:pt x="3377520" y="1219200"/>
                    <a:pt x="3442867" y="1226820"/>
                    <a:pt x="3505491" y="1242060"/>
                  </a:cubicBezTo>
                  <a:cubicBezTo>
                    <a:pt x="3726036" y="1289050"/>
                    <a:pt x="3792744" y="1379220"/>
                    <a:pt x="3851284" y="1428750"/>
                  </a:cubicBezTo>
                  <a:cubicBezTo>
                    <a:pt x="4013289" y="1564640"/>
                    <a:pt x="4123562" y="1598930"/>
                    <a:pt x="4295097" y="1598930"/>
                  </a:cubicBezTo>
                  <a:lnTo>
                    <a:pt x="4702153" y="1598930"/>
                  </a:lnTo>
                  <a:cubicBezTo>
                    <a:pt x="5019357" y="1598930"/>
                    <a:pt x="5276660" y="1358900"/>
                    <a:pt x="5276660" y="1062990"/>
                  </a:cubicBezTo>
                  <a:lnTo>
                    <a:pt x="5276660" y="575310"/>
                  </a:lnTo>
                  <a:cubicBezTo>
                    <a:pt x="5276660" y="279400"/>
                    <a:pt x="5019358" y="39370"/>
                    <a:pt x="4702153" y="39370"/>
                  </a:cubicBezTo>
                  <a:close/>
                </a:path>
              </a:pathLst>
            </a:custGeom>
            <a:blipFill>
              <a:blip r:embed="rId2"/>
              <a:stretch>
                <a:fillRect l="-4016" r="-4016"/>
              </a:stretch>
            </a:blipFill>
          </p:spPr>
          <p:txBody>
            <a:bodyPr/>
            <a:lstStyle/>
            <a:p>
              <a:endParaRPr lang="en-ZA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80485" y="3049435"/>
            <a:ext cx="5136591" cy="3548403"/>
            <a:chOff x="0" y="0"/>
            <a:chExt cx="5590540" cy="3861995"/>
          </a:xfrm>
        </p:grpSpPr>
        <p:sp>
          <p:nvSpPr>
            <p:cNvPr id="8" name="Freeform 8"/>
            <p:cNvSpPr/>
            <p:nvPr/>
          </p:nvSpPr>
          <p:spPr>
            <a:xfrm>
              <a:off x="-87630" y="-24130"/>
              <a:ext cx="5678170" cy="3921685"/>
            </a:xfrm>
            <a:custGeom>
              <a:avLst/>
              <a:gdLst/>
              <a:ahLst/>
              <a:cxnLst/>
              <a:rect l="l" t="t" r="r" b="b"/>
              <a:pathLst>
                <a:path w="5678170" h="3921685">
                  <a:moveTo>
                    <a:pt x="2969260" y="331123"/>
                  </a:moveTo>
                  <a:lnTo>
                    <a:pt x="3215640" y="1339813"/>
                  </a:lnTo>
                  <a:cubicBezTo>
                    <a:pt x="3256280" y="1513909"/>
                    <a:pt x="3429000" y="1572383"/>
                    <a:pt x="3533140" y="1448789"/>
                  </a:cubicBezTo>
                  <a:lnTo>
                    <a:pt x="4480560" y="440099"/>
                  </a:lnTo>
                  <a:cubicBezTo>
                    <a:pt x="4790440" y="98552"/>
                    <a:pt x="4639310" y="24130"/>
                    <a:pt x="4465320" y="24130"/>
                  </a:cubicBezTo>
                  <a:lnTo>
                    <a:pt x="3153410" y="24130"/>
                  </a:lnTo>
                  <a:cubicBezTo>
                    <a:pt x="3026410" y="24130"/>
                    <a:pt x="2933700" y="176962"/>
                    <a:pt x="2969260" y="331123"/>
                  </a:cubicBezTo>
                  <a:close/>
                  <a:moveTo>
                    <a:pt x="1496060" y="1428854"/>
                  </a:moveTo>
                  <a:cubicBezTo>
                    <a:pt x="1466850" y="1357090"/>
                    <a:pt x="1405890" y="1303931"/>
                    <a:pt x="1333500" y="1285325"/>
                  </a:cubicBezTo>
                  <a:lnTo>
                    <a:pt x="381000" y="1052755"/>
                  </a:lnTo>
                  <a:cubicBezTo>
                    <a:pt x="194310" y="1000925"/>
                    <a:pt x="78740" y="1046110"/>
                    <a:pt x="88900" y="1208245"/>
                  </a:cubicBezTo>
                  <a:lnTo>
                    <a:pt x="100330" y="2438874"/>
                  </a:lnTo>
                  <a:cubicBezTo>
                    <a:pt x="110490" y="2900027"/>
                    <a:pt x="265430" y="2842881"/>
                    <a:pt x="386080" y="2716629"/>
                  </a:cubicBezTo>
                  <a:lnTo>
                    <a:pt x="1465580" y="1621555"/>
                  </a:lnTo>
                  <a:cubicBezTo>
                    <a:pt x="1520190" y="1565739"/>
                    <a:pt x="1527810" y="1505935"/>
                    <a:pt x="1496060" y="1428854"/>
                  </a:cubicBezTo>
                  <a:close/>
                  <a:moveTo>
                    <a:pt x="3822700" y="2787064"/>
                  </a:moveTo>
                  <a:cubicBezTo>
                    <a:pt x="4113530" y="2787064"/>
                    <a:pt x="4348480" y="3032924"/>
                    <a:pt x="4348480" y="3337260"/>
                  </a:cubicBezTo>
                  <a:cubicBezTo>
                    <a:pt x="4348480" y="3641594"/>
                    <a:pt x="4113530" y="3887395"/>
                    <a:pt x="3822700" y="3887395"/>
                  </a:cubicBezTo>
                  <a:cubicBezTo>
                    <a:pt x="3531870" y="3887395"/>
                    <a:pt x="3296920" y="3641594"/>
                    <a:pt x="3296920" y="3337260"/>
                  </a:cubicBezTo>
                  <a:cubicBezTo>
                    <a:pt x="3296920" y="3032924"/>
                    <a:pt x="3531870" y="2787064"/>
                    <a:pt x="3822700" y="2787064"/>
                  </a:cubicBezTo>
                  <a:close/>
                  <a:moveTo>
                    <a:pt x="5669280" y="818856"/>
                  </a:moveTo>
                  <a:cubicBezTo>
                    <a:pt x="5669280" y="684630"/>
                    <a:pt x="5674360" y="549074"/>
                    <a:pt x="5660390" y="416177"/>
                  </a:cubicBezTo>
                  <a:cubicBezTo>
                    <a:pt x="5642610" y="234108"/>
                    <a:pt x="5537200" y="113171"/>
                    <a:pt x="5373370" y="56025"/>
                  </a:cubicBezTo>
                  <a:cubicBezTo>
                    <a:pt x="5209540" y="0"/>
                    <a:pt x="5058410" y="37420"/>
                    <a:pt x="4936490" y="165001"/>
                  </a:cubicBezTo>
                  <a:cubicBezTo>
                    <a:pt x="4472940" y="648747"/>
                    <a:pt x="4011930" y="1133822"/>
                    <a:pt x="3552190" y="1621555"/>
                  </a:cubicBezTo>
                  <a:cubicBezTo>
                    <a:pt x="3478530" y="1698636"/>
                    <a:pt x="3393440" y="1726544"/>
                    <a:pt x="3295650" y="1701294"/>
                  </a:cubicBezTo>
                  <a:cubicBezTo>
                    <a:pt x="3197860" y="1676043"/>
                    <a:pt x="3147060" y="1598963"/>
                    <a:pt x="3122930" y="1497961"/>
                  </a:cubicBezTo>
                  <a:cubicBezTo>
                    <a:pt x="3031490" y="1123191"/>
                    <a:pt x="2937510" y="749749"/>
                    <a:pt x="2843530" y="376308"/>
                  </a:cubicBezTo>
                  <a:cubicBezTo>
                    <a:pt x="2791460" y="166330"/>
                    <a:pt x="2625090" y="28117"/>
                    <a:pt x="2423160" y="28117"/>
                  </a:cubicBezTo>
                  <a:cubicBezTo>
                    <a:pt x="2016760" y="25459"/>
                    <a:pt x="1610360" y="24130"/>
                    <a:pt x="1203960" y="24130"/>
                  </a:cubicBezTo>
                  <a:cubicBezTo>
                    <a:pt x="965200" y="24130"/>
                    <a:pt x="726440" y="20320"/>
                    <a:pt x="487680" y="32104"/>
                  </a:cubicBezTo>
                  <a:cubicBezTo>
                    <a:pt x="288290" y="42736"/>
                    <a:pt x="125730" y="231450"/>
                    <a:pt x="113030" y="444085"/>
                  </a:cubicBezTo>
                  <a:cubicBezTo>
                    <a:pt x="100330" y="663366"/>
                    <a:pt x="237490" y="861383"/>
                    <a:pt x="439420" y="918529"/>
                  </a:cubicBezTo>
                  <a:cubicBezTo>
                    <a:pt x="803910" y="1016873"/>
                    <a:pt x="1167130" y="1119204"/>
                    <a:pt x="1529080" y="1226851"/>
                  </a:cubicBezTo>
                  <a:cubicBezTo>
                    <a:pt x="1728470" y="1285325"/>
                    <a:pt x="1775460" y="1492645"/>
                    <a:pt x="1628140" y="1645477"/>
                  </a:cubicBezTo>
                  <a:cubicBezTo>
                    <a:pt x="1304290" y="1983036"/>
                    <a:pt x="977900" y="2317937"/>
                    <a:pt x="654050" y="2654167"/>
                  </a:cubicBezTo>
                  <a:cubicBezTo>
                    <a:pt x="510540" y="2803012"/>
                    <a:pt x="363220" y="2947870"/>
                    <a:pt x="226060" y="3103360"/>
                  </a:cubicBezTo>
                  <a:cubicBezTo>
                    <a:pt x="0" y="3358523"/>
                    <a:pt x="99060" y="3755886"/>
                    <a:pt x="412750" y="3862204"/>
                  </a:cubicBezTo>
                  <a:cubicBezTo>
                    <a:pt x="595630" y="3921685"/>
                    <a:pt x="751840" y="3863532"/>
                    <a:pt x="883920" y="3723990"/>
                  </a:cubicBezTo>
                  <a:cubicBezTo>
                    <a:pt x="1343660" y="3238916"/>
                    <a:pt x="1803400" y="2752511"/>
                    <a:pt x="2263140" y="2264778"/>
                  </a:cubicBezTo>
                  <a:cubicBezTo>
                    <a:pt x="2350770" y="2171750"/>
                    <a:pt x="2494280" y="2170421"/>
                    <a:pt x="2583180" y="2262120"/>
                  </a:cubicBezTo>
                  <a:cubicBezTo>
                    <a:pt x="2599690" y="2279397"/>
                    <a:pt x="2614930" y="2299331"/>
                    <a:pt x="2625090" y="2321924"/>
                  </a:cubicBezTo>
                  <a:cubicBezTo>
                    <a:pt x="2686050" y="2445518"/>
                    <a:pt x="2658110" y="2545191"/>
                    <a:pt x="2541270" y="2666128"/>
                  </a:cubicBezTo>
                  <a:cubicBezTo>
                    <a:pt x="2393950" y="2817631"/>
                    <a:pt x="2246630" y="2969134"/>
                    <a:pt x="2105660" y="3127282"/>
                  </a:cubicBezTo>
                  <a:cubicBezTo>
                    <a:pt x="1910080" y="3346562"/>
                    <a:pt x="1992630" y="3717346"/>
                    <a:pt x="2256790" y="3831637"/>
                  </a:cubicBezTo>
                  <a:cubicBezTo>
                    <a:pt x="2421890" y="3901365"/>
                    <a:pt x="2551430" y="3870177"/>
                    <a:pt x="2687320" y="3754557"/>
                  </a:cubicBezTo>
                  <a:cubicBezTo>
                    <a:pt x="2735580" y="3713359"/>
                    <a:pt x="2771140" y="3660200"/>
                    <a:pt x="2814320" y="3613686"/>
                  </a:cubicBezTo>
                  <a:cubicBezTo>
                    <a:pt x="2886710" y="3536605"/>
                    <a:pt x="3293110" y="2725932"/>
                    <a:pt x="3708400" y="2646194"/>
                  </a:cubicBezTo>
                  <a:cubicBezTo>
                    <a:pt x="4123690" y="2566455"/>
                    <a:pt x="4348480" y="2796367"/>
                    <a:pt x="4461510" y="3145887"/>
                  </a:cubicBezTo>
                  <a:cubicBezTo>
                    <a:pt x="4549140" y="3413011"/>
                    <a:pt x="4467860" y="3871506"/>
                    <a:pt x="4798060" y="3871506"/>
                  </a:cubicBezTo>
                  <a:cubicBezTo>
                    <a:pt x="4906010" y="3871506"/>
                    <a:pt x="4919980" y="3879480"/>
                    <a:pt x="5229860" y="3879480"/>
                  </a:cubicBezTo>
                  <a:cubicBezTo>
                    <a:pt x="5344160" y="3880809"/>
                    <a:pt x="5454650" y="3836953"/>
                    <a:pt x="5537200" y="3754557"/>
                  </a:cubicBezTo>
                  <a:cubicBezTo>
                    <a:pt x="5643880" y="3650897"/>
                    <a:pt x="5678170" y="3518000"/>
                    <a:pt x="5678170" y="3370483"/>
                  </a:cubicBezTo>
                  <a:cubicBezTo>
                    <a:pt x="5678170" y="2897369"/>
                    <a:pt x="5670550" y="1196284"/>
                    <a:pt x="5669280" y="818856"/>
                  </a:cubicBezTo>
                  <a:close/>
                </a:path>
              </a:pathLst>
            </a:custGeom>
            <a:blipFill>
              <a:blip r:embed="rId3"/>
              <a:stretch>
                <a:fillRect t="-22335" b="-22335"/>
              </a:stretch>
            </a:blipFill>
          </p:spPr>
          <p:txBody>
            <a:bodyPr/>
            <a:lstStyle/>
            <a:p>
              <a:endParaRPr lang="en-ZA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734944" y="3049435"/>
            <a:ext cx="4822498" cy="3548403"/>
            <a:chOff x="0" y="0"/>
            <a:chExt cx="5590540" cy="4113530"/>
          </a:xfrm>
        </p:grpSpPr>
        <p:sp>
          <p:nvSpPr>
            <p:cNvPr id="10" name="Freeform 10"/>
            <p:cNvSpPr/>
            <p:nvPr/>
          </p:nvSpPr>
          <p:spPr>
            <a:xfrm>
              <a:off x="-29210" y="-54610"/>
              <a:ext cx="5694680" cy="4171950"/>
            </a:xfrm>
            <a:custGeom>
              <a:avLst/>
              <a:gdLst/>
              <a:ahLst/>
              <a:cxnLst/>
              <a:rect l="l" t="t" r="r" b="b"/>
              <a:pathLst>
                <a:path w="5694680" h="4171950">
                  <a:moveTo>
                    <a:pt x="2081530" y="4168140"/>
                  </a:moveTo>
                  <a:cubicBezTo>
                    <a:pt x="1723390" y="4165600"/>
                    <a:pt x="1443990" y="3882390"/>
                    <a:pt x="1433830" y="3511550"/>
                  </a:cubicBezTo>
                  <a:cubicBezTo>
                    <a:pt x="1424940" y="3181350"/>
                    <a:pt x="1230630" y="2905760"/>
                    <a:pt x="927100" y="2807970"/>
                  </a:cubicBezTo>
                  <a:cubicBezTo>
                    <a:pt x="844550" y="2780030"/>
                    <a:pt x="754380" y="2769870"/>
                    <a:pt x="666750" y="2766060"/>
                  </a:cubicBezTo>
                  <a:cubicBezTo>
                    <a:pt x="335280" y="2754630"/>
                    <a:pt x="64770" y="2499360"/>
                    <a:pt x="31750" y="2170430"/>
                  </a:cubicBezTo>
                  <a:cubicBezTo>
                    <a:pt x="0" y="1846580"/>
                    <a:pt x="222250" y="1544320"/>
                    <a:pt x="543560" y="1474470"/>
                  </a:cubicBezTo>
                  <a:cubicBezTo>
                    <a:pt x="591820" y="1465580"/>
                    <a:pt x="640080" y="1460500"/>
                    <a:pt x="689610" y="1459230"/>
                  </a:cubicBezTo>
                  <a:cubicBezTo>
                    <a:pt x="1109980" y="1447800"/>
                    <a:pt x="1424940" y="1131570"/>
                    <a:pt x="1433830" y="711200"/>
                  </a:cubicBezTo>
                  <a:cubicBezTo>
                    <a:pt x="1440180" y="421640"/>
                    <a:pt x="1611630" y="181610"/>
                    <a:pt x="1877060" y="90170"/>
                  </a:cubicBezTo>
                  <a:cubicBezTo>
                    <a:pt x="2136140" y="0"/>
                    <a:pt x="2424430" y="83820"/>
                    <a:pt x="2594610" y="299720"/>
                  </a:cubicBezTo>
                  <a:cubicBezTo>
                    <a:pt x="2752090" y="497840"/>
                    <a:pt x="2786380" y="721360"/>
                    <a:pt x="2689860" y="953770"/>
                  </a:cubicBezTo>
                  <a:cubicBezTo>
                    <a:pt x="2593340" y="1186180"/>
                    <a:pt x="2410460" y="1322070"/>
                    <a:pt x="2156460" y="1355090"/>
                  </a:cubicBezTo>
                  <a:cubicBezTo>
                    <a:pt x="2062480" y="1366520"/>
                    <a:pt x="1963420" y="1366520"/>
                    <a:pt x="1871980" y="1393190"/>
                  </a:cubicBezTo>
                  <a:cubicBezTo>
                    <a:pt x="1516380" y="1494790"/>
                    <a:pt x="1294130" y="1842770"/>
                    <a:pt x="1341120" y="2211070"/>
                  </a:cubicBezTo>
                  <a:cubicBezTo>
                    <a:pt x="1388110" y="2579370"/>
                    <a:pt x="1699260" y="2853690"/>
                    <a:pt x="2090420" y="2865120"/>
                  </a:cubicBezTo>
                  <a:cubicBezTo>
                    <a:pt x="2395220" y="2874010"/>
                    <a:pt x="2640330" y="3061970"/>
                    <a:pt x="2717800" y="3345180"/>
                  </a:cubicBezTo>
                  <a:cubicBezTo>
                    <a:pt x="2811780" y="3693160"/>
                    <a:pt x="2606040" y="4051300"/>
                    <a:pt x="2258060" y="4145280"/>
                  </a:cubicBezTo>
                  <a:cubicBezTo>
                    <a:pt x="2200910" y="4160520"/>
                    <a:pt x="2141220" y="4168140"/>
                    <a:pt x="2081530" y="4168140"/>
                  </a:cubicBezTo>
                  <a:close/>
                  <a:moveTo>
                    <a:pt x="3514090" y="4168140"/>
                  </a:moveTo>
                  <a:cubicBezTo>
                    <a:pt x="3155950" y="4165600"/>
                    <a:pt x="2876550" y="3882390"/>
                    <a:pt x="2867660" y="3511550"/>
                  </a:cubicBezTo>
                  <a:cubicBezTo>
                    <a:pt x="2858770" y="3181350"/>
                    <a:pt x="2664460" y="2905760"/>
                    <a:pt x="2359660" y="2807970"/>
                  </a:cubicBezTo>
                  <a:cubicBezTo>
                    <a:pt x="2277110" y="2780030"/>
                    <a:pt x="2186940" y="2769870"/>
                    <a:pt x="2099310" y="2766060"/>
                  </a:cubicBezTo>
                  <a:cubicBezTo>
                    <a:pt x="1767840" y="2754630"/>
                    <a:pt x="1497330" y="2499360"/>
                    <a:pt x="1465580" y="2170430"/>
                  </a:cubicBezTo>
                  <a:cubicBezTo>
                    <a:pt x="1432560" y="1846580"/>
                    <a:pt x="1654810" y="1544320"/>
                    <a:pt x="1977390" y="1474470"/>
                  </a:cubicBezTo>
                  <a:cubicBezTo>
                    <a:pt x="2025650" y="1464310"/>
                    <a:pt x="2073910" y="1459230"/>
                    <a:pt x="2122170" y="1459230"/>
                  </a:cubicBezTo>
                  <a:cubicBezTo>
                    <a:pt x="2542540" y="1447800"/>
                    <a:pt x="2858770" y="1131570"/>
                    <a:pt x="2867660" y="711200"/>
                  </a:cubicBezTo>
                  <a:cubicBezTo>
                    <a:pt x="2872740" y="421640"/>
                    <a:pt x="3044190" y="181610"/>
                    <a:pt x="3309620" y="90170"/>
                  </a:cubicBezTo>
                  <a:cubicBezTo>
                    <a:pt x="3569970" y="0"/>
                    <a:pt x="3858260" y="83820"/>
                    <a:pt x="4028440" y="299720"/>
                  </a:cubicBezTo>
                  <a:cubicBezTo>
                    <a:pt x="4184650" y="497840"/>
                    <a:pt x="4220210" y="721360"/>
                    <a:pt x="4122420" y="953770"/>
                  </a:cubicBezTo>
                  <a:cubicBezTo>
                    <a:pt x="4024630" y="1186180"/>
                    <a:pt x="3843020" y="1322070"/>
                    <a:pt x="3590290" y="1355090"/>
                  </a:cubicBezTo>
                  <a:cubicBezTo>
                    <a:pt x="3495040" y="1366520"/>
                    <a:pt x="3395980" y="1366520"/>
                    <a:pt x="3305810" y="1393190"/>
                  </a:cubicBezTo>
                  <a:cubicBezTo>
                    <a:pt x="2948940" y="1494790"/>
                    <a:pt x="2726690" y="1842770"/>
                    <a:pt x="2773680" y="2211070"/>
                  </a:cubicBezTo>
                  <a:cubicBezTo>
                    <a:pt x="2820670" y="2579370"/>
                    <a:pt x="3131820" y="2853690"/>
                    <a:pt x="3522980" y="2865120"/>
                  </a:cubicBezTo>
                  <a:cubicBezTo>
                    <a:pt x="3827780" y="2874010"/>
                    <a:pt x="4072890" y="3061970"/>
                    <a:pt x="4150360" y="3345180"/>
                  </a:cubicBezTo>
                  <a:cubicBezTo>
                    <a:pt x="4264660" y="3761740"/>
                    <a:pt x="3947160" y="4171950"/>
                    <a:pt x="3514090" y="4168140"/>
                  </a:cubicBezTo>
                  <a:close/>
                  <a:moveTo>
                    <a:pt x="4945380" y="4168140"/>
                  </a:moveTo>
                  <a:cubicBezTo>
                    <a:pt x="4585970" y="4165600"/>
                    <a:pt x="4307840" y="3882390"/>
                    <a:pt x="4297680" y="3511550"/>
                  </a:cubicBezTo>
                  <a:cubicBezTo>
                    <a:pt x="4288790" y="3181350"/>
                    <a:pt x="4094480" y="2905760"/>
                    <a:pt x="3790950" y="2807970"/>
                  </a:cubicBezTo>
                  <a:cubicBezTo>
                    <a:pt x="3708400" y="2780030"/>
                    <a:pt x="3616960" y="2769870"/>
                    <a:pt x="3529330" y="2766060"/>
                  </a:cubicBezTo>
                  <a:cubicBezTo>
                    <a:pt x="3199130" y="2754630"/>
                    <a:pt x="2927350" y="2499360"/>
                    <a:pt x="2895600" y="2170430"/>
                  </a:cubicBezTo>
                  <a:cubicBezTo>
                    <a:pt x="2863850" y="1846580"/>
                    <a:pt x="3084830" y="1544320"/>
                    <a:pt x="3407410" y="1474470"/>
                  </a:cubicBezTo>
                  <a:cubicBezTo>
                    <a:pt x="3455670" y="1464310"/>
                    <a:pt x="3503930" y="1459230"/>
                    <a:pt x="3553460" y="1459230"/>
                  </a:cubicBezTo>
                  <a:cubicBezTo>
                    <a:pt x="3972560" y="1447800"/>
                    <a:pt x="4288790" y="1131570"/>
                    <a:pt x="4297680" y="711200"/>
                  </a:cubicBezTo>
                  <a:cubicBezTo>
                    <a:pt x="4304030" y="421640"/>
                    <a:pt x="4475480" y="181610"/>
                    <a:pt x="4739640" y="90170"/>
                  </a:cubicBezTo>
                  <a:cubicBezTo>
                    <a:pt x="4999990" y="0"/>
                    <a:pt x="5288280" y="83820"/>
                    <a:pt x="5458460" y="299720"/>
                  </a:cubicBezTo>
                  <a:cubicBezTo>
                    <a:pt x="5615940" y="497840"/>
                    <a:pt x="5650230" y="721360"/>
                    <a:pt x="5553710" y="953770"/>
                  </a:cubicBezTo>
                  <a:cubicBezTo>
                    <a:pt x="5457190" y="1186180"/>
                    <a:pt x="5274310" y="1322070"/>
                    <a:pt x="5020310" y="1355090"/>
                  </a:cubicBezTo>
                  <a:cubicBezTo>
                    <a:pt x="4925060" y="1366520"/>
                    <a:pt x="4827270" y="1366520"/>
                    <a:pt x="4735830" y="1393190"/>
                  </a:cubicBezTo>
                  <a:cubicBezTo>
                    <a:pt x="4378960" y="1494790"/>
                    <a:pt x="4156710" y="1842770"/>
                    <a:pt x="4204970" y="2211070"/>
                  </a:cubicBezTo>
                  <a:cubicBezTo>
                    <a:pt x="4253230" y="2579370"/>
                    <a:pt x="4561840" y="2853690"/>
                    <a:pt x="4953000" y="2865120"/>
                  </a:cubicBezTo>
                  <a:cubicBezTo>
                    <a:pt x="5257800" y="2874010"/>
                    <a:pt x="5504180" y="3061970"/>
                    <a:pt x="5580380" y="3345180"/>
                  </a:cubicBezTo>
                  <a:cubicBezTo>
                    <a:pt x="5694680" y="3761740"/>
                    <a:pt x="5377180" y="4171950"/>
                    <a:pt x="4945380" y="4168140"/>
                  </a:cubicBezTo>
                  <a:close/>
                  <a:moveTo>
                    <a:pt x="5619750" y="2115820"/>
                  </a:moveTo>
                  <a:cubicBezTo>
                    <a:pt x="5618480" y="2476500"/>
                    <a:pt x="5325110" y="2767330"/>
                    <a:pt x="4964430" y="2766060"/>
                  </a:cubicBezTo>
                  <a:cubicBezTo>
                    <a:pt x="4603750" y="2764790"/>
                    <a:pt x="4312920" y="2471420"/>
                    <a:pt x="4314190" y="2110740"/>
                  </a:cubicBezTo>
                  <a:cubicBezTo>
                    <a:pt x="4312920" y="1755140"/>
                    <a:pt x="4611370" y="1457960"/>
                    <a:pt x="4966970" y="1459230"/>
                  </a:cubicBezTo>
                  <a:cubicBezTo>
                    <a:pt x="5327650" y="1459230"/>
                    <a:pt x="5619750" y="1751330"/>
                    <a:pt x="5619750" y="2112010"/>
                  </a:cubicBezTo>
                  <a:cubicBezTo>
                    <a:pt x="5619750" y="2113280"/>
                    <a:pt x="5619750" y="2114550"/>
                    <a:pt x="5619750" y="2115820"/>
                  </a:cubicBezTo>
                  <a:close/>
                  <a:moveTo>
                    <a:pt x="681990" y="2865120"/>
                  </a:moveTo>
                  <a:cubicBezTo>
                    <a:pt x="1042670" y="2865120"/>
                    <a:pt x="1336040" y="3157220"/>
                    <a:pt x="1334770" y="3515360"/>
                  </a:cubicBezTo>
                  <a:cubicBezTo>
                    <a:pt x="1336040" y="3876040"/>
                    <a:pt x="1045210" y="4169410"/>
                    <a:pt x="684530" y="4170680"/>
                  </a:cubicBezTo>
                  <a:cubicBezTo>
                    <a:pt x="323850" y="4171950"/>
                    <a:pt x="30480" y="3881120"/>
                    <a:pt x="29210" y="3520440"/>
                  </a:cubicBezTo>
                  <a:cubicBezTo>
                    <a:pt x="27940" y="3159760"/>
                    <a:pt x="318770" y="2866390"/>
                    <a:pt x="679450" y="2865120"/>
                  </a:cubicBezTo>
                  <a:cubicBezTo>
                    <a:pt x="680720" y="2865120"/>
                    <a:pt x="680720" y="2865120"/>
                    <a:pt x="681990" y="2865120"/>
                  </a:cubicBezTo>
                  <a:close/>
                  <a:moveTo>
                    <a:pt x="693420" y="1358900"/>
                  </a:moveTo>
                  <a:cubicBezTo>
                    <a:pt x="342900" y="1369060"/>
                    <a:pt x="39370" y="1082040"/>
                    <a:pt x="29210" y="731520"/>
                  </a:cubicBezTo>
                  <a:cubicBezTo>
                    <a:pt x="19050" y="381000"/>
                    <a:pt x="300990" y="66040"/>
                    <a:pt x="657860" y="55880"/>
                  </a:cubicBezTo>
                  <a:cubicBezTo>
                    <a:pt x="1014730" y="45720"/>
                    <a:pt x="1324610" y="326390"/>
                    <a:pt x="1336040" y="697230"/>
                  </a:cubicBezTo>
                  <a:cubicBezTo>
                    <a:pt x="1347470" y="1068070"/>
                    <a:pt x="1057910" y="1348740"/>
                    <a:pt x="693420" y="1358900"/>
                  </a:cubicBezTo>
                  <a:close/>
                </a:path>
              </a:pathLst>
            </a:custGeom>
            <a:blipFill>
              <a:blip r:embed="rId4"/>
              <a:stretch>
                <a:fillRect l="-5252" r="-5252"/>
              </a:stretch>
            </a:blipFill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28700" y="1132522"/>
            <a:ext cx="16230600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00"/>
              </a:lnSpc>
              <a:spcBef>
                <a:spcPct val="0"/>
              </a:spcBef>
            </a:pPr>
            <a:r>
              <a:rPr lang="en-US" sz="6000" b="1" u="none" strike="noStrike">
                <a:solidFill>
                  <a:srgbClr val="FFFFFF"/>
                </a:solidFill>
                <a:latin typeface="Touvlo Bold"/>
                <a:ea typeface="Touvlo Bold"/>
                <a:cs typeface="Touvlo Bold"/>
                <a:sym typeface="Touvlo Bold"/>
              </a:rPr>
              <a:t>Competitive Advantages: Why Choose Us?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251969" y="7716402"/>
            <a:ext cx="4393625" cy="1301761"/>
            <a:chOff x="0" y="0"/>
            <a:chExt cx="5858166" cy="1735682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57150"/>
              <a:ext cx="5858166" cy="6227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20"/>
                </a:lnSpc>
                <a:spcBef>
                  <a:spcPct val="0"/>
                </a:spcBef>
              </a:pPr>
              <a:r>
                <a:rPr lang="en-US" sz="2800" b="1">
                  <a:solidFill>
                    <a:srgbClr val="FFFFFF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Glob</a:t>
              </a:r>
              <a:r>
                <a:rPr lang="en-US" sz="2800" b="1" u="none" strike="noStrike">
                  <a:solidFill>
                    <a:srgbClr val="FFFFFF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al Reach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850117"/>
              <a:ext cx="5858166" cy="8855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767"/>
                </a:lnSpc>
                <a:spcBef>
                  <a:spcPct val="0"/>
                </a:spcBef>
              </a:pPr>
              <a:r>
                <a:rPr lang="en-US" sz="1976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Int</a:t>
              </a:r>
              <a:r>
                <a:rPr lang="en-US" sz="1976" u="none" strike="noStrike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ernational service delivery across UK, Europe, USA, and Africa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947188" y="7716402"/>
            <a:ext cx="4393625" cy="1301761"/>
            <a:chOff x="0" y="0"/>
            <a:chExt cx="5858166" cy="1735682"/>
          </a:xfrm>
        </p:grpSpPr>
        <p:sp>
          <p:nvSpPr>
            <p:cNvPr id="16" name="TextBox 16"/>
            <p:cNvSpPr txBox="1"/>
            <p:nvPr/>
          </p:nvSpPr>
          <p:spPr>
            <a:xfrm>
              <a:off x="0" y="-57150"/>
              <a:ext cx="5858166" cy="6227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20"/>
                </a:lnSpc>
                <a:spcBef>
                  <a:spcPct val="0"/>
                </a:spcBef>
              </a:pPr>
              <a:r>
                <a:rPr lang="en-US" sz="2800" b="1">
                  <a:solidFill>
                    <a:srgbClr val="FFFFFF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Industry </a:t>
              </a:r>
              <a:r>
                <a:rPr lang="en-US" sz="2800" b="1" u="none" strike="noStrike">
                  <a:solidFill>
                    <a:srgbClr val="FFFFFF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Expertise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850117"/>
              <a:ext cx="5858166" cy="8855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767"/>
                </a:lnSpc>
                <a:spcBef>
                  <a:spcPct val="0"/>
                </a:spcBef>
              </a:pPr>
              <a:r>
                <a:rPr lang="en-US" sz="1976" u="none" strike="noStrike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Our team is comprised of </a:t>
              </a:r>
              <a:r>
                <a:rPr lang="en-US" sz="1976" b="1" u="none" strike="noStrike">
                  <a:solidFill>
                    <a:srgbClr val="FFFFFF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industry veterans</a:t>
              </a:r>
              <a:r>
                <a:rPr lang="en-US" sz="1976" u="none" strike="noStrike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 with years of expertise.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642407" y="7716402"/>
            <a:ext cx="4393625" cy="1301761"/>
            <a:chOff x="0" y="0"/>
            <a:chExt cx="5858166" cy="1735682"/>
          </a:xfrm>
        </p:grpSpPr>
        <p:sp>
          <p:nvSpPr>
            <p:cNvPr id="19" name="TextBox 19"/>
            <p:cNvSpPr txBox="1"/>
            <p:nvPr/>
          </p:nvSpPr>
          <p:spPr>
            <a:xfrm>
              <a:off x="0" y="-57150"/>
              <a:ext cx="5858166" cy="6227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20"/>
                </a:lnSpc>
                <a:spcBef>
                  <a:spcPct val="0"/>
                </a:spcBef>
              </a:pPr>
              <a:r>
                <a:rPr lang="en-US" sz="2800" b="1" u="none" strike="noStrike">
                  <a:solidFill>
                    <a:srgbClr val="FFFFFF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Strategic Partnerships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850117"/>
              <a:ext cx="5858166" cy="8855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767"/>
                </a:lnSpc>
                <a:spcBef>
                  <a:spcPct val="0"/>
                </a:spcBef>
              </a:pPr>
              <a:r>
                <a:rPr lang="en-US" sz="1976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R</a:t>
              </a:r>
              <a:r>
                <a:rPr lang="en-US" sz="1976" u="none" strike="noStrike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elationships with major network operators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9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620817"/>
            <a:ext cx="18288000" cy="4405640"/>
            <a:chOff x="0" y="0"/>
            <a:chExt cx="5629534" cy="1160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629534" cy="1160333"/>
            </a:xfrm>
            <a:custGeom>
              <a:avLst/>
              <a:gdLst/>
              <a:ahLst/>
              <a:cxnLst/>
              <a:rect l="l" t="t" r="r" b="b"/>
              <a:pathLst>
                <a:path w="5629534" h="1160333">
                  <a:moveTo>
                    <a:pt x="36220" y="0"/>
                  </a:moveTo>
                  <a:lnTo>
                    <a:pt x="5593313" y="0"/>
                  </a:lnTo>
                  <a:cubicBezTo>
                    <a:pt x="5613317" y="0"/>
                    <a:pt x="5629534" y="16216"/>
                    <a:pt x="5629534" y="36220"/>
                  </a:cubicBezTo>
                  <a:lnTo>
                    <a:pt x="5629534" y="1124113"/>
                  </a:lnTo>
                  <a:cubicBezTo>
                    <a:pt x="5629534" y="1144117"/>
                    <a:pt x="5613317" y="1160333"/>
                    <a:pt x="5593313" y="1160333"/>
                  </a:cubicBezTo>
                  <a:lnTo>
                    <a:pt x="36220" y="1160333"/>
                  </a:lnTo>
                  <a:cubicBezTo>
                    <a:pt x="16216" y="1160333"/>
                    <a:pt x="0" y="1144117"/>
                    <a:pt x="0" y="1124113"/>
                  </a:cubicBezTo>
                  <a:lnTo>
                    <a:pt x="0" y="36220"/>
                  </a:lnTo>
                  <a:cubicBezTo>
                    <a:pt x="0" y="16216"/>
                    <a:pt x="16216" y="0"/>
                    <a:pt x="3622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629534" cy="1198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6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351755" y="3049435"/>
            <a:ext cx="4974928" cy="3527128"/>
            <a:chOff x="0" y="0"/>
            <a:chExt cx="5275391" cy="3740150"/>
          </a:xfrm>
        </p:grpSpPr>
        <p:sp>
          <p:nvSpPr>
            <p:cNvPr id="6" name="Freeform 6"/>
            <p:cNvSpPr/>
            <p:nvPr/>
          </p:nvSpPr>
          <p:spPr>
            <a:xfrm>
              <a:off x="-1270" y="-38100"/>
              <a:ext cx="5277930" cy="3785870"/>
            </a:xfrm>
            <a:custGeom>
              <a:avLst/>
              <a:gdLst/>
              <a:ahLst/>
              <a:cxnLst/>
              <a:rect l="l" t="t" r="r" b="b"/>
              <a:pathLst>
                <a:path w="5277930" h="3785870">
                  <a:moveTo>
                    <a:pt x="8077" y="1253490"/>
                  </a:moveTo>
                  <a:cubicBezTo>
                    <a:pt x="8077" y="1050290"/>
                    <a:pt x="6716" y="847090"/>
                    <a:pt x="8077" y="643890"/>
                  </a:cubicBezTo>
                  <a:cubicBezTo>
                    <a:pt x="8077" y="337820"/>
                    <a:pt x="231345" y="88900"/>
                    <a:pt x="543104" y="44450"/>
                  </a:cubicBezTo>
                  <a:cubicBezTo>
                    <a:pt x="854862" y="0"/>
                    <a:pt x="1154368" y="176530"/>
                    <a:pt x="1248304" y="471170"/>
                  </a:cubicBezTo>
                  <a:cubicBezTo>
                    <a:pt x="1264641" y="524510"/>
                    <a:pt x="1271448" y="579120"/>
                    <a:pt x="1271448" y="633730"/>
                  </a:cubicBezTo>
                  <a:cubicBezTo>
                    <a:pt x="1274171" y="1043940"/>
                    <a:pt x="1275532" y="1454150"/>
                    <a:pt x="1272809" y="1865630"/>
                  </a:cubicBezTo>
                  <a:cubicBezTo>
                    <a:pt x="1270086" y="2146300"/>
                    <a:pt x="1078130" y="2378710"/>
                    <a:pt x="803129" y="2442210"/>
                  </a:cubicBezTo>
                  <a:cubicBezTo>
                    <a:pt x="528128" y="2505710"/>
                    <a:pt x="223177" y="2400300"/>
                    <a:pt x="89760" y="2159000"/>
                  </a:cubicBezTo>
                  <a:cubicBezTo>
                    <a:pt x="43473" y="2070100"/>
                    <a:pt x="16245" y="1973580"/>
                    <a:pt x="10800" y="1874520"/>
                  </a:cubicBezTo>
                  <a:cubicBezTo>
                    <a:pt x="0" y="1668780"/>
                    <a:pt x="8077" y="1460500"/>
                    <a:pt x="8077" y="1253490"/>
                  </a:cubicBezTo>
                  <a:close/>
                  <a:moveTo>
                    <a:pt x="1340879" y="624840"/>
                  </a:moveTo>
                  <a:cubicBezTo>
                    <a:pt x="1343602" y="295910"/>
                    <a:pt x="1628132" y="36830"/>
                    <a:pt x="1983456" y="39370"/>
                  </a:cubicBezTo>
                  <a:cubicBezTo>
                    <a:pt x="2338778" y="41910"/>
                    <a:pt x="2609695" y="309880"/>
                    <a:pt x="2606973" y="629920"/>
                  </a:cubicBezTo>
                  <a:cubicBezTo>
                    <a:pt x="2605611" y="956310"/>
                    <a:pt x="2321081" y="1219200"/>
                    <a:pt x="1971203" y="1217930"/>
                  </a:cubicBezTo>
                  <a:cubicBezTo>
                    <a:pt x="1621325" y="1216660"/>
                    <a:pt x="1339517" y="951230"/>
                    <a:pt x="1340879" y="624840"/>
                  </a:cubicBezTo>
                  <a:close/>
                  <a:moveTo>
                    <a:pt x="5057476" y="1880870"/>
                  </a:moveTo>
                  <a:cubicBezTo>
                    <a:pt x="4877773" y="1695450"/>
                    <a:pt x="4650421" y="1634490"/>
                    <a:pt x="4391756" y="1706880"/>
                  </a:cubicBezTo>
                  <a:cubicBezTo>
                    <a:pt x="4153513" y="1772920"/>
                    <a:pt x="4017374" y="1934210"/>
                    <a:pt x="3952027" y="2152650"/>
                  </a:cubicBezTo>
                  <a:cubicBezTo>
                    <a:pt x="3907101" y="2302510"/>
                    <a:pt x="3800912" y="2443480"/>
                    <a:pt x="3633461" y="2501900"/>
                  </a:cubicBezTo>
                  <a:cubicBezTo>
                    <a:pt x="3536802" y="2533650"/>
                    <a:pt x="3434698" y="2550160"/>
                    <a:pt x="3332594" y="2551430"/>
                  </a:cubicBezTo>
                  <a:lnTo>
                    <a:pt x="3078014" y="2553970"/>
                  </a:lnTo>
                  <a:lnTo>
                    <a:pt x="649292" y="2553970"/>
                  </a:lnTo>
                  <a:cubicBezTo>
                    <a:pt x="292608" y="2553970"/>
                    <a:pt x="2631" y="2824480"/>
                    <a:pt x="1270" y="3157220"/>
                  </a:cubicBezTo>
                  <a:lnTo>
                    <a:pt x="1270" y="3161030"/>
                  </a:lnTo>
                  <a:cubicBezTo>
                    <a:pt x="1270" y="3495040"/>
                    <a:pt x="291246" y="3765550"/>
                    <a:pt x="649292" y="3765550"/>
                  </a:cubicBezTo>
                  <a:lnTo>
                    <a:pt x="2643730" y="3765550"/>
                  </a:lnTo>
                  <a:cubicBezTo>
                    <a:pt x="2905117" y="3776980"/>
                    <a:pt x="3152890" y="3785870"/>
                    <a:pt x="3361183" y="3765550"/>
                  </a:cubicBezTo>
                  <a:lnTo>
                    <a:pt x="3397941" y="3765550"/>
                  </a:lnTo>
                  <a:cubicBezTo>
                    <a:pt x="3713784" y="3765550"/>
                    <a:pt x="4017374" y="3554730"/>
                    <a:pt x="4074552" y="3275330"/>
                  </a:cubicBezTo>
                  <a:cubicBezTo>
                    <a:pt x="4109948" y="3145790"/>
                    <a:pt x="4135815" y="2994660"/>
                    <a:pt x="4330494" y="2921000"/>
                  </a:cubicBezTo>
                  <a:cubicBezTo>
                    <a:pt x="4414900" y="2887980"/>
                    <a:pt x="4512920" y="2881630"/>
                    <a:pt x="4605495" y="2874010"/>
                  </a:cubicBezTo>
                  <a:cubicBezTo>
                    <a:pt x="4872327" y="2851150"/>
                    <a:pt x="5068368" y="2729230"/>
                    <a:pt x="5173195" y="2500630"/>
                  </a:cubicBezTo>
                  <a:cubicBezTo>
                    <a:pt x="5277930" y="2272030"/>
                    <a:pt x="5234457" y="2061210"/>
                    <a:pt x="5057476" y="1880870"/>
                  </a:cubicBezTo>
                  <a:close/>
                  <a:moveTo>
                    <a:pt x="2675042" y="1870710"/>
                  </a:moveTo>
                  <a:cubicBezTo>
                    <a:pt x="2676403" y="1541780"/>
                    <a:pt x="2962296" y="1282700"/>
                    <a:pt x="3317619" y="1285240"/>
                  </a:cubicBezTo>
                  <a:cubicBezTo>
                    <a:pt x="3672942" y="1287780"/>
                    <a:pt x="3942497" y="1555750"/>
                    <a:pt x="3939774" y="1875790"/>
                  </a:cubicBezTo>
                  <a:cubicBezTo>
                    <a:pt x="3954750" y="2202180"/>
                    <a:pt x="3682471" y="2476500"/>
                    <a:pt x="3333955" y="2490470"/>
                  </a:cubicBezTo>
                  <a:cubicBezTo>
                    <a:pt x="2984078" y="2504440"/>
                    <a:pt x="2690018" y="2250440"/>
                    <a:pt x="2675042" y="1925320"/>
                  </a:cubicBezTo>
                  <a:cubicBezTo>
                    <a:pt x="2673681" y="1907540"/>
                    <a:pt x="2673681" y="1888490"/>
                    <a:pt x="2675042" y="1870710"/>
                  </a:cubicBezTo>
                  <a:close/>
                  <a:moveTo>
                    <a:pt x="4702153" y="39370"/>
                  </a:moveTo>
                  <a:lnTo>
                    <a:pt x="4628638" y="39370"/>
                  </a:lnTo>
                  <a:cubicBezTo>
                    <a:pt x="4197077" y="38100"/>
                    <a:pt x="3766877" y="39370"/>
                    <a:pt x="3335317" y="39370"/>
                  </a:cubicBezTo>
                  <a:cubicBezTo>
                    <a:pt x="2954127" y="39370"/>
                    <a:pt x="2691379" y="276860"/>
                    <a:pt x="2672319" y="632460"/>
                  </a:cubicBezTo>
                  <a:cubicBezTo>
                    <a:pt x="2666874" y="716280"/>
                    <a:pt x="2653260" y="803910"/>
                    <a:pt x="2617863" y="878840"/>
                  </a:cubicBezTo>
                  <a:cubicBezTo>
                    <a:pt x="2493977" y="1143000"/>
                    <a:pt x="2269348" y="1276350"/>
                    <a:pt x="1960312" y="1282700"/>
                  </a:cubicBezTo>
                  <a:cubicBezTo>
                    <a:pt x="1519221" y="1291590"/>
                    <a:pt x="1215631" y="1719580"/>
                    <a:pt x="1385805" y="2094230"/>
                  </a:cubicBezTo>
                  <a:cubicBezTo>
                    <a:pt x="1504246" y="2354580"/>
                    <a:pt x="1792861" y="2504440"/>
                    <a:pt x="2078753" y="2456180"/>
                  </a:cubicBezTo>
                  <a:cubicBezTo>
                    <a:pt x="2387789" y="2402840"/>
                    <a:pt x="2597443" y="2169160"/>
                    <a:pt x="2606973" y="1869440"/>
                  </a:cubicBezTo>
                  <a:cubicBezTo>
                    <a:pt x="2619225" y="1497330"/>
                    <a:pt x="2914647" y="1223010"/>
                    <a:pt x="3312173" y="1219200"/>
                  </a:cubicBezTo>
                  <a:cubicBezTo>
                    <a:pt x="3377520" y="1219200"/>
                    <a:pt x="3442867" y="1226820"/>
                    <a:pt x="3505491" y="1242060"/>
                  </a:cubicBezTo>
                  <a:cubicBezTo>
                    <a:pt x="3726036" y="1289050"/>
                    <a:pt x="3792744" y="1379220"/>
                    <a:pt x="3851284" y="1428750"/>
                  </a:cubicBezTo>
                  <a:cubicBezTo>
                    <a:pt x="4013289" y="1564640"/>
                    <a:pt x="4123562" y="1598930"/>
                    <a:pt x="4295097" y="1598930"/>
                  </a:cubicBezTo>
                  <a:lnTo>
                    <a:pt x="4702153" y="1598930"/>
                  </a:lnTo>
                  <a:cubicBezTo>
                    <a:pt x="5019357" y="1598930"/>
                    <a:pt x="5276660" y="1358900"/>
                    <a:pt x="5276660" y="1062990"/>
                  </a:cubicBezTo>
                  <a:lnTo>
                    <a:pt x="5276660" y="575310"/>
                  </a:lnTo>
                  <a:cubicBezTo>
                    <a:pt x="5276660" y="279400"/>
                    <a:pt x="5019358" y="39370"/>
                    <a:pt x="4702153" y="39370"/>
                  </a:cubicBezTo>
                  <a:close/>
                </a:path>
              </a:pathLst>
            </a:custGeom>
            <a:blipFill>
              <a:blip r:embed="rId2"/>
              <a:stretch>
                <a:fillRect t="-11934" b="-11934"/>
              </a:stretch>
            </a:blipFill>
          </p:spPr>
          <p:txBody>
            <a:bodyPr/>
            <a:lstStyle/>
            <a:p>
              <a:endParaRPr lang="en-ZA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80485" y="3049435"/>
            <a:ext cx="5136591" cy="3548403"/>
            <a:chOff x="0" y="0"/>
            <a:chExt cx="5590540" cy="3861995"/>
          </a:xfrm>
        </p:grpSpPr>
        <p:sp>
          <p:nvSpPr>
            <p:cNvPr id="8" name="Freeform 8"/>
            <p:cNvSpPr/>
            <p:nvPr/>
          </p:nvSpPr>
          <p:spPr>
            <a:xfrm>
              <a:off x="-87630" y="-24130"/>
              <a:ext cx="5678170" cy="3921685"/>
            </a:xfrm>
            <a:custGeom>
              <a:avLst/>
              <a:gdLst/>
              <a:ahLst/>
              <a:cxnLst/>
              <a:rect l="l" t="t" r="r" b="b"/>
              <a:pathLst>
                <a:path w="5678170" h="3921685">
                  <a:moveTo>
                    <a:pt x="2969260" y="331123"/>
                  </a:moveTo>
                  <a:lnTo>
                    <a:pt x="3215640" y="1339813"/>
                  </a:lnTo>
                  <a:cubicBezTo>
                    <a:pt x="3256280" y="1513909"/>
                    <a:pt x="3429000" y="1572383"/>
                    <a:pt x="3533140" y="1448789"/>
                  </a:cubicBezTo>
                  <a:lnTo>
                    <a:pt x="4480560" y="440099"/>
                  </a:lnTo>
                  <a:cubicBezTo>
                    <a:pt x="4790440" y="98552"/>
                    <a:pt x="4639310" y="24130"/>
                    <a:pt x="4465320" y="24130"/>
                  </a:cubicBezTo>
                  <a:lnTo>
                    <a:pt x="3153410" y="24130"/>
                  </a:lnTo>
                  <a:cubicBezTo>
                    <a:pt x="3026410" y="24130"/>
                    <a:pt x="2933700" y="176962"/>
                    <a:pt x="2969260" y="331123"/>
                  </a:cubicBezTo>
                  <a:close/>
                  <a:moveTo>
                    <a:pt x="1496060" y="1428854"/>
                  </a:moveTo>
                  <a:cubicBezTo>
                    <a:pt x="1466850" y="1357090"/>
                    <a:pt x="1405890" y="1303931"/>
                    <a:pt x="1333500" y="1285325"/>
                  </a:cubicBezTo>
                  <a:lnTo>
                    <a:pt x="381000" y="1052755"/>
                  </a:lnTo>
                  <a:cubicBezTo>
                    <a:pt x="194310" y="1000925"/>
                    <a:pt x="78740" y="1046110"/>
                    <a:pt x="88900" y="1208245"/>
                  </a:cubicBezTo>
                  <a:lnTo>
                    <a:pt x="100330" y="2438874"/>
                  </a:lnTo>
                  <a:cubicBezTo>
                    <a:pt x="110490" y="2900027"/>
                    <a:pt x="265430" y="2842881"/>
                    <a:pt x="386080" y="2716629"/>
                  </a:cubicBezTo>
                  <a:lnTo>
                    <a:pt x="1465580" y="1621555"/>
                  </a:lnTo>
                  <a:cubicBezTo>
                    <a:pt x="1520190" y="1565739"/>
                    <a:pt x="1527810" y="1505935"/>
                    <a:pt x="1496060" y="1428854"/>
                  </a:cubicBezTo>
                  <a:close/>
                  <a:moveTo>
                    <a:pt x="3822700" y="2787064"/>
                  </a:moveTo>
                  <a:cubicBezTo>
                    <a:pt x="4113530" y="2787064"/>
                    <a:pt x="4348480" y="3032924"/>
                    <a:pt x="4348480" y="3337260"/>
                  </a:cubicBezTo>
                  <a:cubicBezTo>
                    <a:pt x="4348480" y="3641594"/>
                    <a:pt x="4113530" y="3887395"/>
                    <a:pt x="3822700" y="3887395"/>
                  </a:cubicBezTo>
                  <a:cubicBezTo>
                    <a:pt x="3531870" y="3887395"/>
                    <a:pt x="3296920" y="3641594"/>
                    <a:pt x="3296920" y="3337260"/>
                  </a:cubicBezTo>
                  <a:cubicBezTo>
                    <a:pt x="3296920" y="3032924"/>
                    <a:pt x="3531870" y="2787064"/>
                    <a:pt x="3822700" y="2787064"/>
                  </a:cubicBezTo>
                  <a:close/>
                  <a:moveTo>
                    <a:pt x="5669280" y="818856"/>
                  </a:moveTo>
                  <a:cubicBezTo>
                    <a:pt x="5669280" y="684630"/>
                    <a:pt x="5674360" y="549074"/>
                    <a:pt x="5660390" y="416177"/>
                  </a:cubicBezTo>
                  <a:cubicBezTo>
                    <a:pt x="5642610" y="234108"/>
                    <a:pt x="5537200" y="113171"/>
                    <a:pt x="5373370" y="56025"/>
                  </a:cubicBezTo>
                  <a:cubicBezTo>
                    <a:pt x="5209540" y="0"/>
                    <a:pt x="5058410" y="37420"/>
                    <a:pt x="4936490" y="165001"/>
                  </a:cubicBezTo>
                  <a:cubicBezTo>
                    <a:pt x="4472940" y="648747"/>
                    <a:pt x="4011930" y="1133822"/>
                    <a:pt x="3552190" y="1621555"/>
                  </a:cubicBezTo>
                  <a:cubicBezTo>
                    <a:pt x="3478530" y="1698636"/>
                    <a:pt x="3393440" y="1726544"/>
                    <a:pt x="3295650" y="1701294"/>
                  </a:cubicBezTo>
                  <a:cubicBezTo>
                    <a:pt x="3197860" y="1676043"/>
                    <a:pt x="3147060" y="1598963"/>
                    <a:pt x="3122930" y="1497961"/>
                  </a:cubicBezTo>
                  <a:cubicBezTo>
                    <a:pt x="3031490" y="1123191"/>
                    <a:pt x="2937510" y="749749"/>
                    <a:pt x="2843530" y="376308"/>
                  </a:cubicBezTo>
                  <a:cubicBezTo>
                    <a:pt x="2791460" y="166330"/>
                    <a:pt x="2625090" y="28117"/>
                    <a:pt x="2423160" y="28117"/>
                  </a:cubicBezTo>
                  <a:cubicBezTo>
                    <a:pt x="2016760" y="25459"/>
                    <a:pt x="1610360" y="24130"/>
                    <a:pt x="1203960" y="24130"/>
                  </a:cubicBezTo>
                  <a:cubicBezTo>
                    <a:pt x="965200" y="24130"/>
                    <a:pt x="726440" y="20320"/>
                    <a:pt x="487680" y="32104"/>
                  </a:cubicBezTo>
                  <a:cubicBezTo>
                    <a:pt x="288290" y="42736"/>
                    <a:pt x="125730" y="231450"/>
                    <a:pt x="113030" y="444085"/>
                  </a:cubicBezTo>
                  <a:cubicBezTo>
                    <a:pt x="100330" y="663366"/>
                    <a:pt x="237490" y="861383"/>
                    <a:pt x="439420" y="918529"/>
                  </a:cubicBezTo>
                  <a:cubicBezTo>
                    <a:pt x="803910" y="1016873"/>
                    <a:pt x="1167130" y="1119204"/>
                    <a:pt x="1529080" y="1226851"/>
                  </a:cubicBezTo>
                  <a:cubicBezTo>
                    <a:pt x="1728470" y="1285325"/>
                    <a:pt x="1775460" y="1492645"/>
                    <a:pt x="1628140" y="1645477"/>
                  </a:cubicBezTo>
                  <a:cubicBezTo>
                    <a:pt x="1304290" y="1983036"/>
                    <a:pt x="977900" y="2317937"/>
                    <a:pt x="654050" y="2654167"/>
                  </a:cubicBezTo>
                  <a:cubicBezTo>
                    <a:pt x="510540" y="2803012"/>
                    <a:pt x="363220" y="2947870"/>
                    <a:pt x="226060" y="3103360"/>
                  </a:cubicBezTo>
                  <a:cubicBezTo>
                    <a:pt x="0" y="3358523"/>
                    <a:pt x="99060" y="3755886"/>
                    <a:pt x="412750" y="3862204"/>
                  </a:cubicBezTo>
                  <a:cubicBezTo>
                    <a:pt x="595630" y="3921685"/>
                    <a:pt x="751840" y="3863532"/>
                    <a:pt x="883920" y="3723990"/>
                  </a:cubicBezTo>
                  <a:cubicBezTo>
                    <a:pt x="1343660" y="3238916"/>
                    <a:pt x="1803400" y="2752511"/>
                    <a:pt x="2263140" y="2264778"/>
                  </a:cubicBezTo>
                  <a:cubicBezTo>
                    <a:pt x="2350770" y="2171750"/>
                    <a:pt x="2494280" y="2170421"/>
                    <a:pt x="2583180" y="2262120"/>
                  </a:cubicBezTo>
                  <a:cubicBezTo>
                    <a:pt x="2599690" y="2279397"/>
                    <a:pt x="2614930" y="2299331"/>
                    <a:pt x="2625090" y="2321924"/>
                  </a:cubicBezTo>
                  <a:cubicBezTo>
                    <a:pt x="2686050" y="2445518"/>
                    <a:pt x="2658110" y="2545191"/>
                    <a:pt x="2541270" y="2666128"/>
                  </a:cubicBezTo>
                  <a:cubicBezTo>
                    <a:pt x="2393950" y="2817631"/>
                    <a:pt x="2246630" y="2969134"/>
                    <a:pt x="2105660" y="3127282"/>
                  </a:cubicBezTo>
                  <a:cubicBezTo>
                    <a:pt x="1910080" y="3346562"/>
                    <a:pt x="1992630" y="3717346"/>
                    <a:pt x="2256790" y="3831637"/>
                  </a:cubicBezTo>
                  <a:cubicBezTo>
                    <a:pt x="2421890" y="3901365"/>
                    <a:pt x="2551430" y="3870177"/>
                    <a:pt x="2687320" y="3754557"/>
                  </a:cubicBezTo>
                  <a:cubicBezTo>
                    <a:pt x="2735580" y="3713359"/>
                    <a:pt x="2771140" y="3660200"/>
                    <a:pt x="2814320" y="3613686"/>
                  </a:cubicBezTo>
                  <a:cubicBezTo>
                    <a:pt x="2886710" y="3536605"/>
                    <a:pt x="3293110" y="2725932"/>
                    <a:pt x="3708400" y="2646194"/>
                  </a:cubicBezTo>
                  <a:cubicBezTo>
                    <a:pt x="4123690" y="2566455"/>
                    <a:pt x="4348480" y="2796367"/>
                    <a:pt x="4461510" y="3145887"/>
                  </a:cubicBezTo>
                  <a:cubicBezTo>
                    <a:pt x="4549140" y="3413011"/>
                    <a:pt x="4467860" y="3871506"/>
                    <a:pt x="4798060" y="3871506"/>
                  </a:cubicBezTo>
                  <a:cubicBezTo>
                    <a:pt x="4906010" y="3871506"/>
                    <a:pt x="4919980" y="3879480"/>
                    <a:pt x="5229860" y="3879480"/>
                  </a:cubicBezTo>
                  <a:cubicBezTo>
                    <a:pt x="5344160" y="3880809"/>
                    <a:pt x="5454650" y="3836953"/>
                    <a:pt x="5537200" y="3754557"/>
                  </a:cubicBezTo>
                  <a:cubicBezTo>
                    <a:pt x="5643880" y="3650897"/>
                    <a:pt x="5678170" y="3518000"/>
                    <a:pt x="5678170" y="3370483"/>
                  </a:cubicBezTo>
                  <a:cubicBezTo>
                    <a:pt x="5678170" y="2897369"/>
                    <a:pt x="5670550" y="1196284"/>
                    <a:pt x="5669280" y="818856"/>
                  </a:cubicBezTo>
                  <a:close/>
                </a:path>
              </a:pathLst>
            </a:custGeom>
            <a:blipFill>
              <a:blip r:embed="rId3"/>
              <a:stretch>
                <a:fillRect l="-2221" r="-2221"/>
              </a:stretch>
            </a:blipFill>
          </p:spPr>
          <p:txBody>
            <a:bodyPr/>
            <a:lstStyle/>
            <a:p>
              <a:endParaRPr lang="en-ZA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734944" y="3049435"/>
            <a:ext cx="4822498" cy="3548403"/>
            <a:chOff x="0" y="0"/>
            <a:chExt cx="5590540" cy="4113530"/>
          </a:xfrm>
        </p:grpSpPr>
        <p:sp>
          <p:nvSpPr>
            <p:cNvPr id="10" name="Freeform 10"/>
            <p:cNvSpPr/>
            <p:nvPr/>
          </p:nvSpPr>
          <p:spPr>
            <a:xfrm>
              <a:off x="-29210" y="-54610"/>
              <a:ext cx="5694680" cy="4171950"/>
            </a:xfrm>
            <a:custGeom>
              <a:avLst/>
              <a:gdLst/>
              <a:ahLst/>
              <a:cxnLst/>
              <a:rect l="l" t="t" r="r" b="b"/>
              <a:pathLst>
                <a:path w="5694680" h="4171950">
                  <a:moveTo>
                    <a:pt x="2081530" y="4168140"/>
                  </a:moveTo>
                  <a:cubicBezTo>
                    <a:pt x="1723390" y="4165600"/>
                    <a:pt x="1443990" y="3882390"/>
                    <a:pt x="1433830" y="3511550"/>
                  </a:cubicBezTo>
                  <a:cubicBezTo>
                    <a:pt x="1424940" y="3181350"/>
                    <a:pt x="1230630" y="2905760"/>
                    <a:pt x="927100" y="2807970"/>
                  </a:cubicBezTo>
                  <a:cubicBezTo>
                    <a:pt x="844550" y="2780030"/>
                    <a:pt x="754380" y="2769870"/>
                    <a:pt x="666750" y="2766060"/>
                  </a:cubicBezTo>
                  <a:cubicBezTo>
                    <a:pt x="335280" y="2754630"/>
                    <a:pt x="64770" y="2499360"/>
                    <a:pt x="31750" y="2170430"/>
                  </a:cubicBezTo>
                  <a:cubicBezTo>
                    <a:pt x="0" y="1846580"/>
                    <a:pt x="222250" y="1544320"/>
                    <a:pt x="543560" y="1474470"/>
                  </a:cubicBezTo>
                  <a:cubicBezTo>
                    <a:pt x="591820" y="1465580"/>
                    <a:pt x="640080" y="1460500"/>
                    <a:pt x="689610" y="1459230"/>
                  </a:cubicBezTo>
                  <a:cubicBezTo>
                    <a:pt x="1109980" y="1447800"/>
                    <a:pt x="1424940" y="1131570"/>
                    <a:pt x="1433830" y="711200"/>
                  </a:cubicBezTo>
                  <a:cubicBezTo>
                    <a:pt x="1440180" y="421640"/>
                    <a:pt x="1611630" y="181610"/>
                    <a:pt x="1877060" y="90170"/>
                  </a:cubicBezTo>
                  <a:cubicBezTo>
                    <a:pt x="2136140" y="0"/>
                    <a:pt x="2424430" y="83820"/>
                    <a:pt x="2594610" y="299720"/>
                  </a:cubicBezTo>
                  <a:cubicBezTo>
                    <a:pt x="2752090" y="497840"/>
                    <a:pt x="2786380" y="721360"/>
                    <a:pt x="2689860" y="953770"/>
                  </a:cubicBezTo>
                  <a:cubicBezTo>
                    <a:pt x="2593340" y="1186180"/>
                    <a:pt x="2410460" y="1322070"/>
                    <a:pt x="2156460" y="1355090"/>
                  </a:cubicBezTo>
                  <a:cubicBezTo>
                    <a:pt x="2062480" y="1366520"/>
                    <a:pt x="1963420" y="1366520"/>
                    <a:pt x="1871980" y="1393190"/>
                  </a:cubicBezTo>
                  <a:cubicBezTo>
                    <a:pt x="1516380" y="1494790"/>
                    <a:pt x="1294130" y="1842770"/>
                    <a:pt x="1341120" y="2211070"/>
                  </a:cubicBezTo>
                  <a:cubicBezTo>
                    <a:pt x="1388110" y="2579370"/>
                    <a:pt x="1699260" y="2853690"/>
                    <a:pt x="2090420" y="2865120"/>
                  </a:cubicBezTo>
                  <a:cubicBezTo>
                    <a:pt x="2395220" y="2874010"/>
                    <a:pt x="2640330" y="3061970"/>
                    <a:pt x="2717800" y="3345180"/>
                  </a:cubicBezTo>
                  <a:cubicBezTo>
                    <a:pt x="2811780" y="3693160"/>
                    <a:pt x="2606040" y="4051300"/>
                    <a:pt x="2258060" y="4145280"/>
                  </a:cubicBezTo>
                  <a:cubicBezTo>
                    <a:pt x="2200910" y="4160520"/>
                    <a:pt x="2141220" y="4168140"/>
                    <a:pt x="2081530" y="4168140"/>
                  </a:cubicBezTo>
                  <a:close/>
                  <a:moveTo>
                    <a:pt x="3514090" y="4168140"/>
                  </a:moveTo>
                  <a:cubicBezTo>
                    <a:pt x="3155950" y="4165600"/>
                    <a:pt x="2876550" y="3882390"/>
                    <a:pt x="2867660" y="3511550"/>
                  </a:cubicBezTo>
                  <a:cubicBezTo>
                    <a:pt x="2858770" y="3181350"/>
                    <a:pt x="2664460" y="2905760"/>
                    <a:pt x="2359660" y="2807970"/>
                  </a:cubicBezTo>
                  <a:cubicBezTo>
                    <a:pt x="2277110" y="2780030"/>
                    <a:pt x="2186940" y="2769870"/>
                    <a:pt x="2099310" y="2766060"/>
                  </a:cubicBezTo>
                  <a:cubicBezTo>
                    <a:pt x="1767840" y="2754630"/>
                    <a:pt x="1497330" y="2499360"/>
                    <a:pt x="1465580" y="2170430"/>
                  </a:cubicBezTo>
                  <a:cubicBezTo>
                    <a:pt x="1432560" y="1846580"/>
                    <a:pt x="1654810" y="1544320"/>
                    <a:pt x="1977390" y="1474470"/>
                  </a:cubicBezTo>
                  <a:cubicBezTo>
                    <a:pt x="2025650" y="1464310"/>
                    <a:pt x="2073910" y="1459230"/>
                    <a:pt x="2122170" y="1459230"/>
                  </a:cubicBezTo>
                  <a:cubicBezTo>
                    <a:pt x="2542540" y="1447800"/>
                    <a:pt x="2858770" y="1131570"/>
                    <a:pt x="2867660" y="711200"/>
                  </a:cubicBezTo>
                  <a:cubicBezTo>
                    <a:pt x="2872740" y="421640"/>
                    <a:pt x="3044190" y="181610"/>
                    <a:pt x="3309620" y="90170"/>
                  </a:cubicBezTo>
                  <a:cubicBezTo>
                    <a:pt x="3569970" y="0"/>
                    <a:pt x="3858260" y="83820"/>
                    <a:pt x="4028440" y="299720"/>
                  </a:cubicBezTo>
                  <a:cubicBezTo>
                    <a:pt x="4184650" y="497840"/>
                    <a:pt x="4220210" y="721360"/>
                    <a:pt x="4122420" y="953770"/>
                  </a:cubicBezTo>
                  <a:cubicBezTo>
                    <a:pt x="4024630" y="1186180"/>
                    <a:pt x="3843020" y="1322070"/>
                    <a:pt x="3590290" y="1355090"/>
                  </a:cubicBezTo>
                  <a:cubicBezTo>
                    <a:pt x="3495040" y="1366520"/>
                    <a:pt x="3395980" y="1366520"/>
                    <a:pt x="3305810" y="1393190"/>
                  </a:cubicBezTo>
                  <a:cubicBezTo>
                    <a:pt x="2948940" y="1494790"/>
                    <a:pt x="2726690" y="1842770"/>
                    <a:pt x="2773680" y="2211070"/>
                  </a:cubicBezTo>
                  <a:cubicBezTo>
                    <a:pt x="2820670" y="2579370"/>
                    <a:pt x="3131820" y="2853690"/>
                    <a:pt x="3522980" y="2865120"/>
                  </a:cubicBezTo>
                  <a:cubicBezTo>
                    <a:pt x="3827780" y="2874010"/>
                    <a:pt x="4072890" y="3061970"/>
                    <a:pt x="4150360" y="3345180"/>
                  </a:cubicBezTo>
                  <a:cubicBezTo>
                    <a:pt x="4264660" y="3761740"/>
                    <a:pt x="3947160" y="4171950"/>
                    <a:pt x="3514090" y="4168140"/>
                  </a:cubicBezTo>
                  <a:close/>
                  <a:moveTo>
                    <a:pt x="4945380" y="4168140"/>
                  </a:moveTo>
                  <a:cubicBezTo>
                    <a:pt x="4585970" y="4165600"/>
                    <a:pt x="4307840" y="3882390"/>
                    <a:pt x="4297680" y="3511550"/>
                  </a:cubicBezTo>
                  <a:cubicBezTo>
                    <a:pt x="4288790" y="3181350"/>
                    <a:pt x="4094480" y="2905760"/>
                    <a:pt x="3790950" y="2807970"/>
                  </a:cubicBezTo>
                  <a:cubicBezTo>
                    <a:pt x="3708400" y="2780030"/>
                    <a:pt x="3616960" y="2769870"/>
                    <a:pt x="3529330" y="2766060"/>
                  </a:cubicBezTo>
                  <a:cubicBezTo>
                    <a:pt x="3199130" y="2754630"/>
                    <a:pt x="2927350" y="2499360"/>
                    <a:pt x="2895600" y="2170430"/>
                  </a:cubicBezTo>
                  <a:cubicBezTo>
                    <a:pt x="2863850" y="1846580"/>
                    <a:pt x="3084830" y="1544320"/>
                    <a:pt x="3407410" y="1474470"/>
                  </a:cubicBezTo>
                  <a:cubicBezTo>
                    <a:pt x="3455670" y="1464310"/>
                    <a:pt x="3503930" y="1459230"/>
                    <a:pt x="3553460" y="1459230"/>
                  </a:cubicBezTo>
                  <a:cubicBezTo>
                    <a:pt x="3972560" y="1447800"/>
                    <a:pt x="4288790" y="1131570"/>
                    <a:pt x="4297680" y="711200"/>
                  </a:cubicBezTo>
                  <a:cubicBezTo>
                    <a:pt x="4304030" y="421640"/>
                    <a:pt x="4475480" y="181610"/>
                    <a:pt x="4739640" y="90170"/>
                  </a:cubicBezTo>
                  <a:cubicBezTo>
                    <a:pt x="4999990" y="0"/>
                    <a:pt x="5288280" y="83820"/>
                    <a:pt x="5458460" y="299720"/>
                  </a:cubicBezTo>
                  <a:cubicBezTo>
                    <a:pt x="5615940" y="497840"/>
                    <a:pt x="5650230" y="721360"/>
                    <a:pt x="5553710" y="953770"/>
                  </a:cubicBezTo>
                  <a:cubicBezTo>
                    <a:pt x="5457190" y="1186180"/>
                    <a:pt x="5274310" y="1322070"/>
                    <a:pt x="5020310" y="1355090"/>
                  </a:cubicBezTo>
                  <a:cubicBezTo>
                    <a:pt x="4925060" y="1366520"/>
                    <a:pt x="4827270" y="1366520"/>
                    <a:pt x="4735830" y="1393190"/>
                  </a:cubicBezTo>
                  <a:cubicBezTo>
                    <a:pt x="4378960" y="1494790"/>
                    <a:pt x="4156710" y="1842770"/>
                    <a:pt x="4204970" y="2211070"/>
                  </a:cubicBezTo>
                  <a:cubicBezTo>
                    <a:pt x="4253230" y="2579370"/>
                    <a:pt x="4561840" y="2853690"/>
                    <a:pt x="4953000" y="2865120"/>
                  </a:cubicBezTo>
                  <a:cubicBezTo>
                    <a:pt x="5257800" y="2874010"/>
                    <a:pt x="5504180" y="3061970"/>
                    <a:pt x="5580380" y="3345180"/>
                  </a:cubicBezTo>
                  <a:cubicBezTo>
                    <a:pt x="5694680" y="3761740"/>
                    <a:pt x="5377180" y="4171950"/>
                    <a:pt x="4945380" y="4168140"/>
                  </a:cubicBezTo>
                  <a:close/>
                  <a:moveTo>
                    <a:pt x="5619750" y="2115820"/>
                  </a:moveTo>
                  <a:cubicBezTo>
                    <a:pt x="5618480" y="2476500"/>
                    <a:pt x="5325110" y="2767330"/>
                    <a:pt x="4964430" y="2766060"/>
                  </a:cubicBezTo>
                  <a:cubicBezTo>
                    <a:pt x="4603750" y="2764790"/>
                    <a:pt x="4312920" y="2471420"/>
                    <a:pt x="4314190" y="2110740"/>
                  </a:cubicBezTo>
                  <a:cubicBezTo>
                    <a:pt x="4312920" y="1755140"/>
                    <a:pt x="4611370" y="1457960"/>
                    <a:pt x="4966970" y="1459230"/>
                  </a:cubicBezTo>
                  <a:cubicBezTo>
                    <a:pt x="5327650" y="1459230"/>
                    <a:pt x="5619750" y="1751330"/>
                    <a:pt x="5619750" y="2112010"/>
                  </a:cubicBezTo>
                  <a:cubicBezTo>
                    <a:pt x="5619750" y="2113280"/>
                    <a:pt x="5619750" y="2114550"/>
                    <a:pt x="5619750" y="2115820"/>
                  </a:cubicBezTo>
                  <a:close/>
                  <a:moveTo>
                    <a:pt x="681990" y="2865120"/>
                  </a:moveTo>
                  <a:cubicBezTo>
                    <a:pt x="1042670" y="2865120"/>
                    <a:pt x="1336040" y="3157220"/>
                    <a:pt x="1334770" y="3515360"/>
                  </a:cubicBezTo>
                  <a:cubicBezTo>
                    <a:pt x="1336040" y="3876040"/>
                    <a:pt x="1045210" y="4169410"/>
                    <a:pt x="684530" y="4170680"/>
                  </a:cubicBezTo>
                  <a:cubicBezTo>
                    <a:pt x="323850" y="4171950"/>
                    <a:pt x="30480" y="3881120"/>
                    <a:pt x="29210" y="3520440"/>
                  </a:cubicBezTo>
                  <a:cubicBezTo>
                    <a:pt x="27940" y="3159760"/>
                    <a:pt x="318770" y="2866390"/>
                    <a:pt x="679450" y="2865120"/>
                  </a:cubicBezTo>
                  <a:cubicBezTo>
                    <a:pt x="680720" y="2865120"/>
                    <a:pt x="680720" y="2865120"/>
                    <a:pt x="681990" y="2865120"/>
                  </a:cubicBezTo>
                  <a:close/>
                  <a:moveTo>
                    <a:pt x="693420" y="1358900"/>
                  </a:moveTo>
                  <a:cubicBezTo>
                    <a:pt x="342900" y="1369060"/>
                    <a:pt x="39370" y="1082040"/>
                    <a:pt x="29210" y="731520"/>
                  </a:cubicBezTo>
                  <a:cubicBezTo>
                    <a:pt x="19050" y="381000"/>
                    <a:pt x="300990" y="66040"/>
                    <a:pt x="657860" y="55880"/>
                  </a:cubicBezTo>
                  <a:cubicBezTo>
                    <a:pt x="1014730" y="45720"/>
                    <a:pt x="1324610" y="326390"/>
                    <a:pt x="1336040" y="697230"/>
                  </a:cubicBezTo>
                  <a:cubicBezTo>
                    <a:pt x="1347470" y="1068070"/>
                    <a:pt x="1057910" y="1348740"/>
                    <a:pt x="693420" y="1358900"/>
                  </a:cubicBezTo>
                  <a:close/>
                </a:path>
              </a:pathLst>
            </a:custGeom>
            <a:blipFill>
              <a:blip r:embed="rId4"/>
              <a:stretch>
                <a:fillRect l="-4294" r="-4294"/>
              </a:stretch>
            </a:blipFill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28700" y="1132522"/>
            <a:ext cx="16230600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00"/>
              </a:lnSpc>
              <a:spcBef>
                <a:spcPct val="0"/>
              </a:spcBef>
            </a:pPr>
            <a:r>
              <a:rPr lang="en-US" sz="6000" b="1" u="none" strike="noStrike">
                <a:solidFill>
                  <a:srgbClr val="FFFFFF"/>
                </a:solidFill>
                <a:latin typeface="Touvlo Bold"/>
                <a:ea typeface="Touvlo Bold"/>
                <a:cs typeface="Touvlo Bold"/>
                <a:sym typeface="Touvlo Bold"/>
              </a:rPr>
              <a:t>Competitive Advantages: Why Choose Us?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251969" y="7716402"/>
            <a:ext cx="4393625" cy="2330461"/>
            <a:chOff x="0" y="0"/>
            <a:chExt cx="5858166" cy="3107282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57150"/>
              <a:ext cx="5858166" cy="6227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20"/>
                </a:lnSpc>
                <a:spcBef>
                  <a:spcPct val="0"/>
                </a:spcBef>
              </a:pPr>
              <a:r>
                <a:rPr lang="en-US" sz="2800" b="1">
                  <a:solidFill>
                    <a:srgbClr val="FFFFFF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Financi</a:t>
              </a:r>
              <a:r>
                <a:rPr lang="en-US" sz="2800" b="1" u="none" strike="noStrike">
                  <a:solidFill>
                    <a:srgbClr val="FFFFFF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al Independence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850117"/>
              <a:ext cx="5858166" cy="2257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767"/>
                </a:lnSpc>
                <a:spcBef>
                  <a:spcPct val="0"/>
                </a:spcBef>
              </a:pPr>
              <a:r>
                <a:rPr lang="en-US" sz="1976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Self-funded model off</a:t>
              </a:r>
              <a:r>
                <a:rPr lang="en-US" sz="1976" u="none" strike="noStrike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ers unparalleled financial flexibility, allowing for swift execution without the constraints of third-party capital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838873" y="7673540"/>
            <a:ext cx="4610254" cy="1687523"/>
            <a:chOff x="0" y="-57150"/>
            <a:chExt cx="6147005" cy="2250032"/>
          </a:xfrm>
        </p:grpSpPr>
        <p:sp>
          <p:nvSpPr>
            <p:cNvPr id="16" name="TextBox 16"/>
            <p:cNvSpPr txBox="1"/>
            <p:nvPr/>
          </p:nvSpPr>
          <p:spPr>
            <a:xfrm>
              <a:off x="0" y="-57150"/>
              <a:ext cx="6147005" cy="6227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20"/>
                </a:lnSpc>
                <a:spcBef>
                  <a:spcPct val="0"/>
                </a:spcBef>
              </a:pPr>
              <a:r>
                <a:rPr lang="en-US" sz="2800" b="1">
                  <a:solidFill>
                    <a:srgbClr val="FFFFFF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Comprehensive Solu</a:t>
              </a:r>
              <a:r>
                <a:rPr lang="en-US" sz="2800" b="1" u="none" strike="noStrike">
                  <a:solidFill>
                    <a:srgbClr val="FFFFFF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tions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1307318"/>
              <a:ext cx="6147005" cy="8855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767"/>
                </a:lnSpc>
                <a:spcBef>
                  <a:spcPct val="0"/>
                </a:spcBef>
              </a:pPr>
              <a:r>
                <a:rPr lang="en-US" sz="1976" dirty="0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End-</a:t>
              </a:r>
              <a:r>
                <a:rPr lang="en-US" sz="1976" u="none" strike="noStrike" dirty="0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to-end service delivery capability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642407" y="7716402"/>
            <a:ext cx="4393625" cy="1644661"/>
            <a:chOff x="0" y="0"/>
            <a:chExt cx="5858166" cy="2192882"/>
          </a:xfrm>
        </p:grpSpPr>
        <p:sp>
          <p:nvSpPr>
            <p:cNvPr id="19" name="TextBox 19"/>
            <p:cNvSpPr txBox="1"/>
            <p:nvPr/>
          </p:nvSpPr>
          <p:spPr>
            <a:xfrm>
              <a:off x="0" y="-57150"/>
              <a:ext cx="5858166" cy="6227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20"/>
                </a:lnSpc>
                <a:spcBef>
                  <a:spcPct val="0"/>
                </a:spcBef>
              </a:pPr>
              <a:r>
                <a:rPr lang="en-US" sz="2800" b="1">
                  <a:solidFill>
                    <a:srgbClr val="FFFFFF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Communi</a:t>
              </a:r>
              <a:r>
                <a:rPr lang="en-US" sz="2800" b="1" u="none" strike="noStrike">
                  <a:solidFill>
                    <a:srgbClr val="FFFFFF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ty Focus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850117"/>
              <a:ext cx="5858166" cy="13427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767"/>
                </a:lnSpc>
                <a:spcBef>
                  <a:spcPct val="0"/>
                </a:spcBef>
              </a:pPr>
              <a:r>
                <a:rPr lang="en-US" sz="1976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Commitm</a:t>
              </a:r>
              <a:r>
                <a:rPr lang="en-US" sz="1976" u="none" strike="noStrike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ent to uplift rural and low-income communities through connectivity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9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0"/>
            <a:ext cx="9144000" cy="10287000"/>
            <a:chOff x="0" y="0"/>
            <a:chExt cx="240829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>
                  <a:moveTo>
                    <a:pt x="84667" y="0"/>
                  </a:moveTo>
                  <a:lnTo>
                    <a:pt x="2323629" y="0"/>
                  </a:lnTo>
                  <a:cubicBezTo>
                    <a:pt x="2370390" y="0"/>
                    <a:pt x="2408296" y="37907"/>
                    <a:pt x="2408296" y="84667"/>
                  </a:cubicBezTo>
                  <a:lnTo>
                    <a:pt x="2408296" y="2624667"/>
                  </a:lnTo>
                  <a:cubicBezTo>
                    <a:pt x="2408296" y="2671427"/>
                    <a:pt x="2370390" y="2709333"/>
                    <a:pt x="2323629" y="2709333"/>
                  </a:cubicBezTo>
                  <a:lnTo>
                    <a:pt x="84667" y="2709333"/>
                  </a:lnTo>
                  <a:cubicBezTo>
                    <a:pt x="37907" y="2709333"/>
                    <a:pt x="0" y="2671427"/>
                    <a:pt x="0" y="2624667"/>
                  </a:cubicBezTo>
                  <a:lnTo>
                    <a:pt x="0" y="84667"/>
                  </a:lnTo>
                  <a:cubicBezTo>
                    <a:pt x="0" y="37907"/>
                    <a:pt x="37907" y="0"/>
                    <a:pt x="8466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408296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70519" y="2868424"/>
            <a:ext cx="8385309" cy="5933974"/>
            <a:chOff x="0" y="0"/>
            <a:chExt cx="11180412" cy="7911965"/>
          </a:xfrm>
        </p:grpSpPr>
        <p:sp>
          <p:nvSpPr>
            <p:cNvPr id="6" name="TextBox 6"/>
            <p:cNvSpPr txBox="1"/>
            <p:nvPr/>
          </p:nvSpPr>
          <p:spPr>
            <a:xfrm>
              <a:off x="0" y="190500"/>
              <a:ext cx="11180412" cy="39717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520"/>
                </a:lnSpc>
              </a:pPr>
              <a:r>
                <a:rPr lang="en-US" sz="8000" b="1" spc="-88">
                  <a:solidFill>
                    <a:srgbClr val="FFFFFF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What questions do you have for us?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4769562"/>
              <a:ext cx="11180412" cy="31424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Feel free to reach out anytime for more information!</a:t>
              </a:r>
            </a:p>
            <a:p>
              <a:pPr marL="0" lvl="0" indent="0" algn="l">
                <a:lnSpc>
                  <a:spcPts val="4759"/>
                </a:lnSpc>
              </a:pPr>
              <a:endParaRPr lang="en-US" sz="3399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endParaRPr>
            </a:p>
            <a:p>
              <a:pPr marL="0" lvl="0" indent="0" algn="l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projects@velocityfibre.co.za 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897666" y="1184145"/>
            <a:ext cx="7636668" cy="7918710"/>
            <a:chOff x="0" y="0"/>
            <a:chExt cx="3698240" cy="3834826"/>
          </a:xfrm>
        </p:grpSpPr>
        <p:sp>
          <p:nvSpPr>
            <p:cNvPr id="9" name="Freeform 9"/>
            <p:cNvSpPr/>
            <p:nvPr/>
          </p:nvSpPr>
          <p:spPr>
            <a:xfrm>
              <a:off x="-1270" y="-5080"/>
              <a:ext cx="3766820" cy="3866576"/>
            </a:xfrm>
            <a:custGeom>
              <a:avLst/>
              <a:gdLst/>
              <a:ahLst/>
              <a:cxnLst/>
              <a:rect l="l" t="t" r="r" b="b"/>
              <a:pathLst>
                <a:path w="3766820" h="3866576">
                  <a:moveTo>
                    <a:pt x="2413000" y="3366666"/>
                  </a:moveTo>
                  <a:cubicBezTo>
                    <a:pt x="2348230" y="3669381"/>
                    <a:pt x="2077720" y="3866576"/>
                    <a:pt x="1767840" y="3837262"/>
                  </a:cubicBezTo>
                  <a:cubicBezTo>
                    <a:pt x="1490980" y="3810824"/>
                    <a:pt x="1259840" y="3555698"/>
                    <a:pt x="1250950" y="3260915"/>
                  </a:cubicBezTo>
                  <a:cubicBezTo>
                    <a:pt x="1247140" y="3099643"/>
                    <a:pt x="1212850" y="2950268"/>
                    <a:pt x="1117600" y="2820722"/>
                  </a:cubicBezTo>
                  <a:cubicBezTo>
                    <a:pt x="988060" y="2643588"/>
                    <a:pt x="814070" y="2553699"/>
                    <a:pt x="599440" y="2548412"/>
                  </a:cubicBezTo>
                  <a:cubicBezTo>
                    <a:pt x="312420" y="2540480"/>
                    <a:pt x="92710" y="2362024"/>
                    <a:pt x="21590" y="2075172"/>
                  </a:cubicBezTo>
                  <a:cubicBezTo>
                    <a:pt x="10160" y="2028906"/>
                    <a:pt x="7620" y="1979995"/>
                    <a:pt x="1270" y="1932407"/>
                  </a:cubicBezTo>
                  <a:cubicBezTo>
                    <a:pt x="5080" y="1599289"/>
                    <a:pt x="261620" y="1324334"/>
                    <a:pt x="576580" y="1319047"/>
                  </a:cubicBezTo>
                  <a:cubicBezTo>
                    <a:pt x="891540" y="1313759"/>
                    <a:pt x="1176020" y="1576817"/>
                    <a:pt x="1186180" y="1919188"/>
                  </a:cubicBezTo>
                  <a:cubicBezTo>
                    <a:pt x="1196340" y="2261560"/>
                    <a:pt x="1353820" y="2478351"/>
                    <a:pt x="1635760" y="2577493"/>
                  </a:cubicBezTo>
                  <a:cubicBezTo>
                    <a:pt x="1704340" y="2601288"/>
                    <a:pt x="1780540" y="2607897"/>
                    <a:pt x="1852930" y="2611863"/>
                  </a:cubicBezTo>
                  <a:cubicBezTo>
                    <a:pt x="2231390" y="2630369"/>
                    <a:pt x="2494280" y="2983316"/>
                    <a:pt x="2413000" y="3366666"/>
                  </a:cubicBezTo>
                  <a:close/>
                  <a:moveTo>
                    <a:pt x="1870710" y="1234445"/>
                  </a:moveTo>
                  <a:cubicBezTo>
                    <a:pt x="2085340" y="1239733"/>
                    <a:pt x="2259330" y="1329622"/>
                    <a:pt x="2390140" y="1506756"/>
                  </a:cubicBezTo>
                  <a:cubicBezTo>
                    <a:pt x="2484120" y="1636302"/>
                    <a:pt x="2518410" y="1785676"/>
                    <a:pt x="2523490" y="1946948"/>
                  </a:cubicBezTo>
                  <a:cubicBezTo>
                    <a:pt x="2532380" y="2241731"/>
                    <a:pt x="2763520" y="2496858"/>
                    <a:pt x="3039110" y="2523295"/>
                  </a:cubicBezTo>
                  <a:cubicBezTo>
                    <a:pt x="3348990" y="2553699"/>
                    <a:pt x="3619500" y="2355414"/>
                    <a:pt x="3684270" y="2052700"/>
                  </a:cubicBezTo>
                  <a:cubicBezTo>
                    <a:pt x="3766820" y="1669350"/>
                    <a:pt x="3502660" y="1316403"/>
                    <a:pt x="3125470" y="1297896"/>
                  </a:cubicBezTo>
                  <a:cubicBezTo>
                    <a:pt x="3051810" y="1293930"/>
                    <a:pt x="2975610" y="1287321"/>
                    <a:pt x="2907030" y="1263527"/>
                  </a:cubicBezTo>
                  <a:cubicBezTo>
                    <a:pt x="2625090" y="1164385"/>
                    <a:pt x="2468880" y="947593"/>
                    <a:pt x="2458720" y="605222"/>
                  </a:cubicBezTo>
                  <a:cubicBezTo>
                    <a:pt x="2448560" y="262850"/>
                    <a:pt x="2181860" y="0"/>
                    <a:pt x="1847850" y="5080"/>
                  </a:cubicBezTo>
                  <a:cubicBezTo>
                    <a:pt x="1534160" y="10368"/>
                    <a:pt x="1277620" y="286644"/>
                    <a:pt x="1272540" y="618441"/>
                  </a:cubicBezTo>
                  <a:cubicBezTo>
                    <a:pt x="1280160" y="666029"/>
                    <a:pt x="1281430" y="714939"/>
                    <a:pt x="1292860" y="761206"/>
                  </a:cubicBezTo>
                  <a:cubicBezTo>
                    <a:pt x="1363980" y="1048057"/>
                    <a:pt x="1583690" y="1226514"/>
                    <a:pt x="1870710" y="1234445"/>
                  </a:cubicBezTo>
                  <a:close/>
                  <a:moveTo>
                    <a:pt x="3125470" y="2611863"/>
                  </a:moveTo>
                  <a:cubicBezTo>
                    <a:pt x="3051810" y="2607897"/>
                    <a:pt x="2975610" y="2601287"/>
                    <a:pt x="2907030" y="2577493"/>
                  </a:cubicBezTo>
                  <a:cubicBezTo>
                    <a:pt x="2625090" y="2478351"/>
                    <a:pt x="2468880" y="2261560"/>
                    <a:pt x="2458720" y="1919188"/>
                  </a:cubicBezTo>
                  <a:cubicBezTo>
                    <a:pt x="2452370" y="1701075"/>
                    <a:pt x="2341880" y="1514687"/>
                    <a:pt x="2175510" y="1410257"/>
                  </a:cubicBezTo>
                  <a:cubicBezTo>
                    <a:pt x="2085340" y="1345484"/>
                    <a:pt x="1974850" y="1304506"/>
                    <a:pt x="1852930" y="1297896"/>
                  </a:cubicBezTo>
                  <a:cubicBezTo>
                    <a:pt x="1780540" y="1293930"/>
                    <a:pt x="1704340" y="1287321"/>
                    <a:pt x="1635760" y="1263527"/>
                  </a:cubicBezTo>
                  <a:cubicBezTo>
                    <a:pt x="1353820" y="1164384"/>
                    <a:pt x="1196340" y="947593"/>
                    <a:pt x="1186180" y="605222"/>
                  </a:cubicBezTo>
                  <a:cubicBezTo>
                    <a:pt x="1176020" y="262850"/>
                    <a:pt x="891540" y="0"/>
                    <a:pt x="576580" y="5080"/>
                  </a:cubicBezTo>
                  <a:cubicBezTo>
                    <a:pt x="261620" y="10368"/>
                    <a:pt x="5080" y="286644"/>
                    <a:pt x="1270" y="618441"/>
                  </a:cubicBezTo>
                  <a:cubicBezTo>
                    <a:pt x="7620" y="666029"/>
                    <a:pt x="10160" y="714939"/>
                    <a:pt x="21590" y="761206"/>
                  </a:cubicBezTo>
                  <a:cubicBezTo>
                    <a:pt x="92710" y="1048057"/>
                    <a:pt x="312420" y="1226514"/>
                    <a:pt x="599440" y="1234445"/>
                  </a:cubicBezTo>
                  <a:cubicBezTo>
                    <a:pt x="814070" y="1239733"/>
                    <a:pt x="988060" y="1329622"/>
                    <a:pt x="1117600" y="1506756"/>
                  </a:cubicBezTo>
                  <a:cubicBezTo>
                    <a:pt x="1212850" y="1636302"/>
                    <a:pt x="1247140" y="1785676"/>
                    <a:pt x="1250950" y="1946948"/>
                  </a:cubicBezTo>
                  <a:cubicBezTo>
                    <a:pt x="1257300" y="2153164"/>
                    <a:pt x="1372870" y="2340873"/>
                    <a:pt x="1536700" y="2442660"/>
                  </a:cubicBezTo>
                  <a:cubicBezTo>
                    <a:pt x="1630680" y="2507433"/>
                    <a:pt x="1743710" y="2544446"/>
                    <a:pt x="1870710" y="2548411"/>
                  </a:cubicBezTo>
                  <a:cubicBezTo>
                    <a:pt x="2085340" y="2553699"/>
                    <a:pt x="2259330" y="2643588"/>
                    <a:pt x="2390140" y="2820722"/>
                  </a:cubicBezTo>
                  <a:cubicBezTo>
                    <a:pt x="2484120" y="2950268"/>
                    <a:pt x="2518410" y="3099643"/>
                    <a:pt x="2523490" y="3260915"/>
                  </a:cubicBezTo>
                  <a:cubicBezTo>
                    <a:pt x="2532380" y="3555698"/>
                    <a:pt x="2763520" y="3810824"/>
                    <a:pt x="3039110" y="3837262"/>
                  </a:cubicBezTo>
                  <a:cubicBezTo>
                    <a:pt x="3348990" y="3866576"/>
                    <a:pt x="3619500" y="3669381"/>
                    <a:pt x="3684270" y="3366666"/>
                  </a:cubicBezTo>
                  <a:cubicBezTo>
                    <a:pt x="3766820" y="2983316"/>
                    <a:pt x="3502660" y="2630369"/>
                    <a:pt x="3125470" y="2611863"/>
                  </a:cubicBezTo>
                  <a:close/>
                  <a:moveTo>
                    <a:pt x="3100070" y="1234445"/>
                  </a:moveTo>
                  <a:cubicBezTo>
                    <a:pt x="3101340" y="1234445"/>
                    <a:pt x="3101340" y="1234445"/>
                    <a:pt x="3102610" y="1234445"/>
                  </a:cubicBezTo>
                  <a:cubicBezTo>
                    <a:pt x="3429000" y="1230479"/>
                    <a:pt x="3690620" y="950237"/>
                    <a:pt x="3686810" y="610509"/>
                  </a:cubicBezTo>
                  <a:cubicBezTo>
                    <a:pt x="3684270" y="276069"/>
                    <a:pt x="3416300" y="3810"/>
                    <a:pt x="3091180" y="5080"/>
                  </a:cubicBezTo>
                  <a:cubicBezTo>
                    <a:pt x="2768600" y="7724"/>
                    <a:pt x="2503170" y="280035"/>
                    <a:pt x="2504440" y="619762"/>
                  </a:cubicBezTo>
                  <a:cubicBezTo>
                    <a:pt x="2505710" y="959490"/>
                    <a:pt x="2776220" y="1238411"/>
                    <a:pt x="3100070" y="1234445"/>
                  </a:cubicBezTo>
                  <a:close/>
                  <a:moveTo>
                    <a:pt x="588010" y="2611863"/>
                  </a:moveTo>
                  <a:cubicBezTo>
                    <a:pt x="265430" y="2613185"/>
                    <a:pt x="0" y="2884174"/>
                    <a:pt x="1270" y="3225223"/>
                  </a:cubicBezTo>
                  <a:cubicBezTo>
                    <a:pt x="2540" y="3566273"/>
                    <a:pt x="271780" y="3843715"/>
                    <a:pt x="596900" y="3841176"/>
                  </a:cubicBezTo>
                  <a:cubicBezTo>
                    <a:pt x="924560" y="3837262"/>
                    <a:pt x="1187450" y="3558342"/>
                    <a:pt x="1183640" y="3217292"/>
                  </a:cubicBezTo>
                  <a:cubicBezTo>
                    <a:pt x="1181100" y="2881530"/>
                    <a:pt x="913130" y="2609219"/>
                    <a:pt x="588010" y="2611863"/>
                  </a:cubicBezTo>
                  <a:close/>
                </a:path>
              </a:pathLst>
            </a:custGeom>
            <a:blipFill>
              <a:blip r:embed="rId2"/>
              <a:stretch>
                <a:fillRect l="-29905" r="-29905"/>
              </a:stretch>
            </a:blipFill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10" name="Freeform 10"/>
          <p:cNvSpPr/>
          <p:nvPr/>
        </p:nvSpPr>
        <p:spPr>
          <a:xfrm>
            <a:off x="1028700" y="1028700"/>
            <a:ext cx="1285596" cy="1231835"/>
          </a:xfrm>
          <a:custGeom>
            <a:avLst/>
            <a:gdLst/>
            <a:ahLst/>
            <a:cxnLst/>
            <a:rect l="l" t="t" r="r" b="b"/>
            <a:pathLst>
              <a:path w="1285596" h="1231835">
                <a:moveTo>
                  <a:pt x="0" y="0"/>
                </a:moveTo>
                <a:lnTo>
                  <a:pt x="1285596" y="0"/>
                </a:lnTo>
                <a:lnTo>
                  <a:pt x="1285596" y="1231835"/>
                </a:lnTo>
                <a:lnTo>
                  <a:pt x="0" y="12318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669</Words>
  <Application>Microsoft Office PowerPoint</Application>
  <PresentationFormat>Custom</PresentationFormat>
  <Paragraphs>80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Touvlo</vt:lpstr>
      <vt:lpstr>Calibri</vt:lpstr>
      <vt:lpstr>Touvlo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Velocity Fibre: Connecting Communities, Empowering Futures</dc:title>
  <dc:description>Presentation - Velocity Fibre: Elevating Connectivity</dc:description>
  <cp:lastModifiedBy>Hein Van Vuuren - (Velo)</cp:lastModifiedBy>
  <cp:revision>9</cp:revision>
  <dcterms:created xsi:type="dcterms:W3CDTF">2006-08-16T00:00:00Z</dcterms:created>
  <dcterms:modified xsi:type="dcterms:W3CDTF">2025-10-31T20:29:06Z</dcterms:modified>
  <dc:identifier>DAGsL1tfNYo</dc:identifier>
</cp:coreProperties>
</file>